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1ea5da-c71b-0f69-999f-6629b3613864}">
          <p14:sldIdLst>
            <p14:sldId id="256"/>
          </p14:sldIdLst>
        </p14:section>
        <p14:section name="Architecture" id="{28c731aa-5a9f-7fcd-2257-43d0e8b829ce}">
          <p14:sldIdLst>
            <p14:sldId id="257"/>
            <p14:sldId id="258"/>
          </p14:sldIdLst>
        </p14:section>
        <p14:section name="Batch, risk and storage" id="{e5e60914-51c2-ea40-cfab-b7f3f19ae822}">
          <p14:sldIdLst>
            <p14:sldId id="259"/>
            <p14:sldId id="260"/>
            <p14:sldId id="261"/>
          </p14:sldIdLst>
        </p14:section>
        <p14:section name="Data and results" id="{3d801a16-bc9b-f710-2f24-bf44799772e2}">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B63"/>
                </a:solidFill>
                <a:latin typeface="+mn-lt"/>
              </a:defRPr>
            </a:pPr>
            <a:r>
              <a:rPr sz="1400" b="0" i="0" u="none" strike="noStrike">
                <a:solidFill>
                  <a:srgbClr val="1F3B63"/>
                </a:solidFill>
                <a:latin typeface="+mn-lt"/>
              </a:rPr>
              <a:t>Indicator weights</a:t>
            </a:r>
          </a:p>
        </c:rich>
      </c:tx>
      <c:layout/>
      <c:overlay val="0"/>
    </c:title>
    <c:autoTitleDeleted val="0"/>
    <c:plotArea>
      <c:layout/>
      <c:barChart>
        <c:barDir val="bar"/>
        <c:grouping val="clustered"/>
        <c:varyColors val="0"/>
        <c:ser>
          <c:idx val="0"/>
          <c:order val="0"/>
          <c:tx>
            <c:strRef>
              <c:f>Sheet1!$B$1</c:f>
              <c:strCache>
                <c:ptCount val="1"/>
                <c:pt idx="0">
                  <c:v>Weight (%)</c:v>
                </c:pt>
              </c:strCache>
            </c:strRef>
          </c:tx>
          <c:spPr>
            <a:solidFill>
              <a:srgbClr val="B8452A"/>
            </a:solidFill>
            <a:effectLst/>
          </c:spPr>
          <c:invertIfNegative val="0"/>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Sheet1!$A$2:$A$6</c:f>
              <c:multiLvlStrCache>
                <c:ptCount val="5"/>
                <c:lvl>
                  <c:pt idx="0">
                    <c:v>Rainfall</c:v>
                  </c:pt>
                  <c:pt idx="1">
                    <c:v>Water level</c:v>
                  </c:pt>
                  <c:pt idx="2">
                    <c:v>Incident reports</c:v>
                  </c:pt>
                  <c:pt idx="3">
                    <c:v>Traffic disruption</c:v>
                  </c:pt>
                  <c:pt idx="4">
                    <c:v>Historical hazard</c:v>
                  </c:pt>
                </c:lvl>
              </c:multiLvlStrCache>
            </c:multiLvlStrRef>
          </c:cat>
          <c:val>
            <c:numRef>
              <c:f>Sheet1!$B$2:$B$6</c:f>
              <c:numCache>
                <c:formatCode>General</c:formatCode>
                <c:ptCount val="5"/>
                <c:pt idx="0">
                  <c:v>30</c:v>
                </c:pt>
                <c:pt idx="1">
                  <c:v>25</c:v>
                </c:pt>
                <c:pt idx="2">
                  <c:v>20</c:v>
                </c:pt>
                <c:pt idx="3">
                  <c:v>15</c:v>
                </c:pt>
                <c:pt idx="4">
                  <c:v>10</c:v>
                </c:pt>
              </c:numCache>
            </c:numRef>
          </c:val>
        </c:ser>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3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 turns messy, multi-source flood-related event streams (rain, river levels, traffic, citizen reports) into one explainable risk picture per area of Chennai. The six coloured blocks are the six layers you will see on the next slide, in the same colours throughout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Sources: a simulator for the live demo, plus real historical data. Ingestion: producers publish JSON to four Kafka topics, keyed by station so each station stays in order. Spark: Structured Streaming handles the live path in three queries; the batch ETL rebuilds history with the SAME validation code; RDD, SQL and MLlib jobs run on the lake. Storage: HBase for fast keyed reads of the latest state, Parquet for history, two derived Kafka topics for live results. Serving: FastAPI reads all of them and pushes updates with Server-Sent Events. Dashboard: React with a Leaflet map. Detailed diagrams: docs/architecture.png, runtime_sequence.png, batch_ml_workflow.png.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 from the repository: synthetic station WXM-02 sits in zone Z-R04-C02 and is the nearest weather station for three zones. The record is validated once by shared code, stored twice (HBase for fast lookups, Parquet for history), aggregated into a 5-minute event-time window per zone, scored with the rule-based formula, and pushed to the browser through Kafka and Server-Sent Events. Delivery is at-least-once; HBase writes are idempotent by row key. Full trace: docs/end_to_end_workflow.md.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 layer re-runs the same validation as streaming over the full history, so live and historical views agree. The data-quality report proves correctness: the generator records every defect it injects, and the ETL detected exactly the same number for all 8 kinds on 296,817 records. The ML model is a supporting component: a depth-6 decision tree predicting incident severity. Accuracy 0.677 against a 0.323 majority baseline, on SYNTHETIC labels, so it measures how well the tree recovers the generator's rule, not real-world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formula in aegis/risk.py is used by Spark (as a UDF), by the API and by the tests. Each indicator is normalised with a clamped linear ramp, weighted, and averaged over the indicators that were actually observed. The example is computed by the project's own function: water level contributes most (18.75 points). The weights are demonstration values from config/aegis.yaml, not validated hazard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HBase answers 'what is the latest risk of zone X' in milliseconds by scanning a key prefix backwards; it keeps versions of the risk cell and expires sensor rows after 30 days. Parquet keeps the full history cheaply for analytics, SQL and ML. If HBase is down the API falls back to a snapshot file and the gold table, and marks where each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 runs on synthetic data because no open, real-time source exists for all four signals in Chennai. The real mode uses verified public datasets for Cyclone Michaung and honestly shows 'Insufficient data' where sources are missing. The hybrid mode fills those gaps with synthetic data driven by the real rainfall, clearly labelled, so the whole pipeline can be shown on the real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recorded runs on the project machine (21–22 October 2026): docs/traceability.md and docs/feature_traceability.md list the command and evidence for each. Say the limits yourself before you are asked: they are design choices for a single-machine academic demonstration, and the documentation states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EGIS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2971800"/>
            <a:ext cx="10698480" cy="118872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EGI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AEGIS · real-time disaster intelligence &amp; risk analytics</a:t>
            </a:r>
            <a:endParaRPr lang="en-US" sz="1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lIns="0" tIns="0" rIns="0" bIns="0" rtlCol="0" anchor="b"/>
          <a:lstStyle/>
          <a:p>
            <a:pPr algn="l" indent="0" marL="0">
              <a:buNone/>
            </a:pPr>
            <a:r>
              <a:rPr lang="en-US" sz="6000" b="1" dirty="0">
                <a:solidFill>
                  <a:schemeClr val="bg1"/>
                </a:solidFill>
              </a:rPr>
              <a:t>AEGIS</a:t>
            </a:r>
            <a:endParaRPr lang="en-US" sz="6000" dirty="0"/>
          </a:p>
        </p:txBody>
      </p:sp>
      <p:sp>
        <p:nvSpPr>
          <p:cNvPr id="3" name="Text 0"/>
          <p:cNvSpPr/>
          <p:nvPr>
            <p:ph idx="101" type="body" hasCustomPrompt="1"/>
          </p:nvPr>
        </p:nvSpPr>
        <p:spPr>
          <a:xfrm>
            <a:off x="731520" y="2971800"/>
            <a:ext cx="10698480" cy="1188720"/>
          </a:xfrm>
          <a:prstGeom prst="rect">
            <a:avLst/>
          </a:prstGeom>
          <a:noFill/>
          <a:ln/>
        </p:spPr>
        <p:txBody>
          <a:bodyPr wrap="square" lIns="0" tIns="0" rIns="0" bIns="0" rtlCol="0" anchor="t"/>
          <a:lstStyle/>
          <a:p>
            <a:pPr algn="l" indent="0" marL="0">
              <a:buNone/>
            </a:pPr>
            <a:r>
              <a:rPr lang="en-US" sz="2400" dirty="0">
                <a:solidFill>
                  <a:schemeClr val="bg2"/>
                </a:solidFill>
              </a:rPr>
              <a:t>Real-time disaster intelligence and risk analytics — system architecture</a:t>
            </a:r>
            <a:endParaRPr lang="en-US" sz="2400" dirty="0"/>
          </a:p>
        </p:txBody>
      </p:sp>
      <p:sp>
        <p:nvSpPr>
          <p:cNvPr id="4" name="layer Sources"/>
          <p:cNvSpPr txBox="1"/>
          <p:nvPr/>
        </p:nvSpPr>
        <p:spPr>
          <a:xfrm>
            <a:off x="731520" y="4709160"/>
            <a:ext cx="1554480" cy="566928"/>
          </a:xfrm>
          <a:prstGeom prst="roundRect">
            <a:avLst>
              <a:gd name="adj" fmla="val 16129"/>
            </a:avLst>
          </a:prstGeom>
          <a:solidFill>
            <a:schemeClr val="accent1"/>
          </a:solidFill>
          <a:ln w="12700">
            <a:solidFill>
              <a:schemeClr val="bg1"/>
            </a:solidFill>
          </a:ln>
        </p:spPr>
        <p:txBody>
          <a:bodyPr wrap="square" lIns="0" tIns="0" rIns="0" bIns="0" rtlCol="0" anchor="ctr"/>
          <a:lstStyle/>
          <a:p>
            <a:pPr algn="ctr" indent="0" marL="0">
              <a:buNone/>
            </a:pPr>
            <a:r>
              <a:rPr lang="en-US" sz="1500" b="1" dirty="0">
                <a:solidFill>
                  <a:schemeClr val="bg1"/>
                </a:solidFill>
              </a:rPr>
              <a:t>Sources</a:t>
            </a:r>
            <a:endParaRPr lang="en-US" sz="1500" dirty="0"/>
          </a:p>
        </p:txBody>
      </p:sp>
      <p:sp>
        <p:nvSpPr>
          <p:cNvPr id="5" name="Shape 3"/>
          <p:cNvSpPr/>
          <p:nvPr/>
        </p:nvSpPr>
        <p:spPr>
          <a:xfrm>
            <a:off x="2313432" y="4992624"/>
            <a:ext cx="173736" cy="0"/>
          </a:xfrm>
          <a:prstGeom prst="line">
            <a:avLst/>
          </a:prstGeom>
          <a:noFill/>
          <a:ln w="25400">
            <a:solidFill>
              <a:schemeClr val="bg2"/>
            </a:solidFill>
            <a:prstDash val="solid"/>
            <a:tailEnd type="triangle"/>
          </a:ln>
        </p:spPr>
      </p:sp>
      <p:sp>
        <p:nvSpPr>
          <p:cNvPr id="6" name="layer Kafka"/>
          <p:cNvSpPr txBox="1"/>
          <p:nvPr/>
        </p:nvSpPr>
        <p:spPr>
          <a:xfrm>
            <a:off x="2514600" y="4709160"/>
            <a:ext cx="1554480" cy="566928"/>
          </a:xfrm>
          <a:prstGeom prst="roundRect">
            <a:avLst>
              <a:gd name="adj" fmla="val 16129"/>
            </a:avLst>
          </a:prstGeom>
          <a:solidFill>
            <a:schemeClr val="accent2"/>
          </a:solidFill>
          <a:ln w="12700">
            <a:solidFill>
              <a:schemeClr val="bg1"/>
            </a:solidFill>
          </a:ln>
        </p:spPr>
        <p:txBody>
          <a:bodyPr wrap="square" lIns="0" tIns="0" rIns="0" bIns="0" rtlCol="0" anchor="ctr"/>
          <a:lstStyle/>
          <a:p>
            <a:pPr algn="ctr" indent="0" marL="0">
              <a:buNone/>
            </a:pPr>
            <a:r>
              <a:rPr lang="en-US" sz="1500" b="1" dirty="0">
                <a:solidFill>
                  <a:schemeClr val="bg1"/>
                </a:solidFill>
              </a:rPr>
              <a:t>Kafka</a:t>
            </a:r>
            <a:endParaRPr lang="en-US" sz="1500" dirty="0"/>
          </a:p>
        </p:txBody>
      </p:sp>
      <p:sp>
        <p:nvSpPr>
          <p:cNvPr id="7" name="Shape 5"/>
          <p:cNvSpPr/>
          <p:nvPr/>
        </p:nvSpPr>
        <p:spPr>
          <a:xfrm>
            <a:off x="4096512" y="4992624"/>
            <a:ext cx="173736" cy="0"/>
          </a:xfrm>
          <a:prstGeom prst="line">
            <a:avLst/>
          </a:prstGeom>
          <a:noFill/>
          <a:ln w="25400">
            <a:solidFill>
              <a:schemeClr val="bg2"/>
            </a:solidFill>
            <a:prstDash val="solid"/>
            <a:tailEnd type="triangle"/>
          </a:ln>
        </p:spPr>
      </p:sp>
      <p:sp>
        <p:nvSpPr>
          <p:cNvPr id="8" name="layer Spark"/>
          <p:cNvSpPr txBox="1"/>
          <p:nvPr/>
        </p:nvSpPr>
        <p:spPr>
          <a:xfrm>
            <a:off x="4297680" y="4709160"/>
            <a:ext cx="1554480" cy="566928"/>
          </a:xfrm>
          <a:prstGeom prst="roundRect">
            <a:avLst>
              <a:gd name="adj" fmla="val 16129"/>
            </a:avLst>
          </a:prstGeom>
          <a:solidFill>
            <a:schemeClr val="accent3"/>
          </a:solidFill>
          <a:ln w="12700">
            <a:solidFill>
              <a:schemeClr val="bg1"/>
            </a:solidFill>
          </a:ln>
        </p:spPr>
        <p:txBody>
          <a:bodyPr wrap="square" lIns="0" tIns="0" rIns="0" bIns="0" rtlCol="0" anchor="ctr"/>
          <a:lstStyle/>
          <a:p>
            <a:pPr algn="ctr" indent="0" marL="0">
              <a:buNone/>
            </a:pPr>
            <a:r>
              <a:rPr lang="en-US" sz="1500" b="1" dirty="0">
                <a:solidFill>
                  <a:schemeClr val="bg1"/>
                </a:solidFill>
              </a:rPr>
              <a:t>Spark</a:t>
            </a:r>
            <a:endParaRPr lang="en-US" sz="1500" dirty="0"/>
          </a:p>
        </p:txBody>
      </p:sp>
      <p:sp>
        <p:nvSpPr>
          <p:cNvPr id="9" name="Shape 7"/>
          <p:cNvSpPr/>
          <p:nvPr/>
        </p:nvSpPr>
        <p:spPr>
          <a:xfrm>
            <a:off x="5879592" y="4992624"/>
            <a:ext cx="173736" cy="0"/>
          </a:xfrm>
          <a:prstGeom prst="line">
            <a:avLst/>
          </a:prstGeom>
          <a:noFill/>
          <a:ln w="25400">
            <a:solidFill>
              <a:schemeClr val="bg2"/>
            </a:solidFill>
            <a:prstDash val="solid"/>
            <a:tailEnd type="triangle"/>
          </a:ln>
        </p:spPr>
      </p:sp>
      <p:sp>
        <p:nvSpPr>
          <p:cNvPr id="10" name="layer Storage"/>
          <p:cNvSpPr txBox="1"/>
          <p:nvPr/>
        </p:nvSpPr>
        <p:spPr>
          <a:xfrm>
            <a:off x="6080760" y="4709160"/>
            <a:ext cx="1554480" cy="566928"/>
          </a:xfrm>
          <a:prstGeom prst="roundRect">
            <a:avLst>
              <a:gd name="adj" fmla="val 16129"/>
            </a:avLst>
          </a:prstGeom>
          <a:solidFill>
            <a:schemeClr val="accent4"/>
          </a:solidFill>
          <a:ln w="12700">
            <a:solidFill>
              <a:schemeClr val="bg1"/>
            </a:solidFill>
          </a:ln>
        </p:spPr>
        <p:txBody>
          <a:bodyPr wrap="square" lIns="0" tIns="0" rIns="0" bIns="0" rtlCol="0" anchor="ctr"/>
          <a:lstStyle/>
          <a:p>
            <a:pPr algn="ctr" indent="0" marL="0">
              <a:buNone/>
            </a:pPr>
            <a:r>
              <a:rPr lang="en-US" sz="1500" b="1" dirty="0">
                <a:solidFill>
                  <a:schemeClr val="bg1"/>
                </a:solidFill>
              </a:rPr>
              <a:t>Storage</a:t>
            </a:r>
            <a:endParaRPr lang="en-US" sz="1500" dirty="0"/>
          </a:p>
        </p:txBody>
      </p:sp>
      <p:sp>
        <p:nvSpPr>
          <p:cNvPr id="11" name="Shape 9"/>
          <p:cNvSpPr/>
          <p:nvPr/>
        </p:nvSpPr>
        <p:spPr>
          <a:xfrm>
            <a:off x="7662672" y="4992624"/>
            <a:ext cx="173736" cy="0"/>
          </a:xfrm>
          <a:prstGeom prst="line">
            <a:avLst/>
          </a:prstGeom>
          <a:noFill/>
          <a:ln w="25400">
            <a:solidFill>
              <a:schemeClr val="bg2"/>
            </a:solidFill>
            <a:prstDash val="solid"/>
            <a:tailEnd type="triangle"/>
          </a:ln>
        </p:spPr>
      </p:sp>
      <p:sp>
        <p:nvSpPr>
          <p:cNvPr id="12" name="layer FastAPI"/>
          <p:cNvSpPr txBox="1"/>
          <p:nvPr/>
        </p:nvSpPr>
        <p:spPr>
          <a:xfrm>
            <a:off x="7863840" y="4709160"/>
            <a:ext cx="1554480" cy="566928"/>
          </a:xfrm>
          <a:prstGeom prst="roundRect">
            <a:avLst>
              <a:gd name="adj" fmla="val 16129"/>
            </a:avLst>
          </a:prstGeom>
          <a:solidFill>
            <a:schemeClr val="accent5"/>
          </a:solidFill>
          <a:ln w="12700">
            <a:solidFill>
              <a:schemeClr val="bg1"/>
            </a:solidFill>
          </a:ln>
        </p:spPr>
        <p:txBody>
          <a:bodyPr wrap="square" lIns="0" tIns="0" rIns="0" bIns="0" rtlCol="0" anchor="ctr"/>
          <a:lstStyle/>
          <a:p>
            <a:pPr algn="ctr" indent="0" marL="0">
              <a:buNone/>
            </a:pPr>
            <a:r>
              <a:rPr lang="en-US" sz="1500" b="1" dirty="0">
                <a:solidFill>
                  <a:schemeClr val="bg1"/>
                </a:solidFill>
              </a:rPr>
              <a:t>FastAPI</a:t>
            </a:r>
            <a:endParaRPr lang="en-US" sz="1500" dirty="0"/>
          </a:p>
        </p:txBody>
      </p:sp>
      <p:sp>
        <p:nvSpPr>
          <p:cNvPr id="13" name="Shape 11"/>
          <p:cNvSpPr/>
          <p:nvPr/>
        </p:nvSpPr>
        <p:spPr>
          <a:xfrm>
            <a:off x="9445752" y="4992624"/>
            <a:ext cx="173736" cy="0"/>
          </a:xfrm>
          <a:prstGeom prst="line">
            <a:avLst/>
          </a:prstGeom>
          <a:noFill/>
          <a:ln w="25400">
            <a:solidFill>
              <a:schemeClr val="bg2"/>
            </a:solidFill>
            <a:prstDash val="solid"/>
            <a:tailEnd type="triangle"/>
          </a:ln>
        </p:spPr>
      </p:sp>
      <p:sp>
        <p:nvSpPr>
          <p:cNvPr id="14" name="layer Dashboard"/>
          <p:cNvSpPr txBox="1"/>
          <p:nvPr/>
        </p:nvSpPr>
        <p:spPr>
          <a:xfrm>
            <a:off x="9646920" y="4709160"/>
            <a:ext cx="1554480" cy="566928"/>
          </a:xfrm>
          <a:prstGeom prst="roundRect">
            <a:avLst>
              <a:gd name="adj" fmla="val 16129"/>
            </a:avLst>
          </a:prstGeom>
          <a:solidFill>
            <a:schemeClr val="accent6"/>
          </a:solidFill>
          <a:ln w="12700">
            <a:solidFill>
              <a:schemeClr val="bg1"/>
            </a:solidFill>
          </a:ln>
        </p:spPr>
        <p:txBody>
          <a:bodyPr wrap="square" lIns="0" tIns="0" rIns="0" bIns="0" rtlCol="0" anchor="ctr"/>
          <a:lstStyle/>
          <a:p>
            <a:pPr algn="ctr" indent="0" marL="0">
              <a:buNone/>
            </a:pPr>
            <a:r>
              <a:rPr lang="en-US" sz="1500" b="1" dirty="0">
                <a:solidFill>
                  <a:schemeClr val="bg1"/>
                </a:solidFill>
              </a:rPr>
              <a:t>Dashboard</a:t>
            </a:r>
            <a:endParaRPr lang="en-US" sz="1500" dirty="0"/>
          </a:p>
        </p:txBody>
      </p:sp>
      <p:sp>
        <p:nvSpPr>
          <p:cNvPr id="15" name="Text 13"/>
          <p:cNvSpPr txBox="1"/>
          <p:nvPr/>
        </p:nvSpPr>
        <p:spPr>
          <a:xfrm>
            <a:off x="731520" y="5760720"/>
            <a:ext cx="10698480" cy="365760"/>
          </a:xfrm>
          <a:prstGeom prst="rect">
            <a:avLst/>
          </a:prstGeom>
          <a:noFill/>
          <a:ln/>
        </p:spPr>
        <p:txBody>
          <a:bodyPr wrap="square" lIns="0" tIns="0" rIns="0" bIns="0" rtlCol="0" anchor="ctr"/>
          <a:lstStyle/>
          <a:p>
            <a:pPr indent="0" marL="0">
              <a:buNone/>
            </a:pPr>
            <a:r>
              <a:rPr lang="en-US" sz="1400" dirty="0">
                <a:solidFill>
                  <a:schemeClr val="bg2"/>
                </a:solidFill>
              </a:rPr>
              <a:t>Big Data and Modern Databases · V Semester M.Sc · Kafka · Spark · HBase · Parquet · FastAPI · React/Leaflet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End-to-end architecture</a:t>
            </a:r>
            <a:endParaRPr lang="en-US" sz="3200" dirty="0"/>
          </a:p>
        </p:txBody>
      </p:sp>
      <p:sp>
        <p:nvSpPr>
          <p:cNvPr id="3" name="step 1"/>
          <p:cNvSpPr txBox="1"/>
          <p:nvPr/>
        </p:nvSpPr>
        <p:spPr>
          <a:xfrm>
            <a:off x="457200" y="122529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 name="Text 2"/>
          <p:cNvSpPr txBox="1"/>
          <p:nvPr/>
        </p:nvSpPr>
        <p:spPr>
          <a:xfrm>
            <a:off x="859536" y="1188720"/>
            <a:ext cx="1172413" cy="402336"/>
          </a:xfrm>
          <a:prstGeom prst="rect">
            <a:avLst/>
          </a:prstGeom>
          <a:noFill/>
          <a:ln/>
        </p:spPr>
        <p:txBody>
          <a:bodyPr wrap="square" lIns="0" tIns="0" rIns="0" bIns="0" rtlCol="0" anchor="ctr"/>
          <a:lstStyle/>
          <a:p>
            <a:pPr indent="0" marL="0">
              <a:buNone/>
            </a:pPr>
            <a:r>
              <a:rPr lang="en-US" sz="1500" b="1" dirty="0">
                <a:solidFill>
                  <a:schemeClr val="accent1"/>
                </a:solidFill>
              </a:rPr>
              <a:t>Sources</a:t>
            </a:r>
            <a:endParaRPr lang="en-US" sz="1500" dirty="0"/>
          </a:p>
        </p:txBody>
      </p:sp>
      <p:sp>
        <p:nvSpPr>
          <p:cNvPr id="5" name="Sources layer"/>
          <p:cNvSpPr/>
          <p:nvPr/>
        </p:nvSpPr>
        <p:spPr>
          <a:xfrm>
            <a:off x="457200" y="1691640"/>
            <a:ext cx="1574749" cy="3931920"/>
          </a:xfrm>
          <a:prstGeom prst="roundRect">
            <a:avLst>
              <a:gd name="adj" fmla="val 5807"/>
            </a:avLst>
          </a:prstGeom>
          <a:solidFill>
            <a:schemeClr val="accent1">
              <a:alpha val="10000"/>
            </a:schemeClr>
          </a:solidFill>
          <a:ln w="9525">
            <a:solidFill>
              <a:schemeClr val="accent1"/>
            </a:solidFill>
            <a:prstDash val="solid"/>
          </a:ln>
        </p:spPr>
      </p:sp>
      <p:sp>
        <p:nvSpPr>
          <p:cNvPr id="6" name="Synthetic simulator"/>
          <p:cNvSpPr txBox="1"/>
          <p:nvPr/>
        </p:nvSpPr>
        <p:spPr>
          <a:xfrm>
            <a:off x="548640" y="1801368"/>
            <a:ext cx="1391869" cy="1152144"/>
          </a:xfrm>
          <a:prstGeom prst="roundRect">
            <a:avLst>
              <a:gd name="adj" fmla="val 6349"/>
            </a:avLst>
          </a:prstGeom>
          <a:solidFill>
            <a:schemeClr val="bg1"/>
          </a:solidFill>
          <a:ln w="15875">
            <a:solidFill>
              <a:schemeClr val="accent1"/>
            </a:solidFill>
          </a:ln>
        </p:spPr>
        <p:txBody>
          <a:bodyPr wrap="square" lIns="50800" tIns="76200" rIns="76200" bIns="50800" rtlCol="0" anchor="ctr"/>
          <a:lstStyle/>
          <a:p>
            <a:pPr algn="l" indent="0" marL="0">
              <a:buNone/>
            </a:pPr>
            <a:r>
              <a:rPr lang="en-US" sz="1200" b="1" dirty="0">
                <a:solidFill>
                  <a:schemeClr val="tx1"/>
                </a:solidFill>
              </a:rPr>
              <a:t>Synthetic simulator</a:t>
            </a:r>
            <a:endParaRPr lang="en-US" sz="1200" dirty="0"/>
          </a:p>
          <a:p>
            <a:pPr algn="l" indent="0" marL="0">
              <a:buNone/>
            </a:pPr>
            <a:r>
              <a:rPr lang="en-US" sz="1050" dirty="0">
                <a:solidFill>
                  <a:schemeClr val="tx1"/>
                </a:solidFill>
              </a:rPr>
              <a:t>producers/ · seed 42 · 6 raw formats</a:t>
            </a:r>
            <a:endParaRPr lang="en-US" sz="1200" dirty="0"/>
          </a:p>
        </p:txBody>
      </p:sp>
      <p:sp>
        <p:nvSpPr>
          <p:cNvPr id="7" name="Real datasets"/>
          <p:cNvSpPr txBox="1"/>
          <p:nvPr/>
        </p:nvSpPr>
        <p:spPr>
          <a:xfrm>
            <a:off x="548640" y="3081528"/>
            <a:ext cx="1391869" cy="1152144"/>
          </a:xfrm>
          <a:prstGeom prst="roundRect">
            <a:avLst>
              <a:gd name="adj" fmla="val 6349"/>
            </a:avLst>
          </a:prstGeom>
          <a:solidFill>
            <a:schemeClr val="bg1"/>
          </a:solidFill>
          <a:ln w="15875">
            <a:solidFill>
              <a:schemeClr val="accent1"/>
            </a:solidFill>
          </a:ln>
        </p:spPr>
        <p:txBody>
          <a:bodyPr wrap="square" lIns="50800" tIns="76200" rIns="76200" bIns="50800" rtlCol="0" anchor="ctr"/>
          <a:lstStyle/>
          <a:p>
            <a:pPr algn="l" indent="0" marL="0">
              <a:buNone/>
            </a:pPr>
            <a:r>
              <a:rPr lang="en-US" sz="1200" b="1" dirty="0">
                <a:solidFill>
                  <a:schemeClr val="tx1"/>
                </a:solidFill>
              </a:rPr>
              <a:t>Real datasets</a:t>
            </a:r>
            <a:endParaRPr lang="en-US" sz="1200" dirty="0"/>
          </a:p>
          <a:p>
            <a:pPr algn="l" indent="0" marL="0">
              <a:buNone/>
            </a:pPr>
            <a:r>
              <a:rPr lang="en-US" sz="1050" dirty="0">
                <a:solidFill>
                  <a:schemeClr val="tx1"/>
                </a:solidFill>
              </a:rPr>
              <a:t>ERA5 · IMD · NOAA · DFO · GDACS (2023)</a:t>
            </a:r>
            <a:endParaRPr lang="en-US" sz="1200" dirty="0"/>
          </a:p>
        </p:txBody>
      </p:sp>
      <p:sp>
        <p:nvSpPr>
          <p:cNvPr id="8" name="Hybrid generator"/>
          <p:cNvSpPr txBox="1"/>
          <p:nvPr/>
        </p:nvSpPr>
        <p:spPr>
          <a:xfrm>
            <a:off x="548640" y="4361688"/>
            <a:ext cx="1391869" cy="1152144"/>
          </a:xfrm>
          <a:prstGeom prst="roundRect">
            <a:avLst>
              <a:gd name="adj" fmla="val 6349"/>
            </a:avLst>
          </a:prstGeom>
          <a:solidFill>
            <a:schemeClr val="bg1"/>
          </a:solidFill>
          <a:ln w="15875">
            <a:solidFill>
              <a:schemeClr val="accent1"/>
            </a:solidFill>
          </a:ln>
        </p:spPr>
        <p:txBody>
          <a:bodyPr wrap="square" lIns="50800" tIns="76200" rIns="76200" bIns="50800" rtlCol="0" anchor="ctr"/>
          <a:lstStyle/>
          <a:p>
            <a:pPr algn="l" indent="0" marL="0">
              <a:buNone/>
            </a:pPr>
            <a:r>
              <a:rPr lang="en-US" sz="1200" b="1" dirty="0">
                <a:solidFill>
                  <a:schemeClr val="tx1"/>
                </a:solidFill>
              </a:rPr>
              <a:t>Hybrid generator</a:t>
            </a:r>
            <a:endParaRPr lang="en-US" sz="1200" dirty="0"/>
          </a:p>
          <a:p>
            <a:pPr algn="l" indent="0" marL="0">
              <a:buNone/>
            </a:pPr>
            <a:r>
              <a:rPr lang="en-US" sz="1050" dirty="0">
                <a:solidFill>
                  <a:schemeClr val="tx1"/>
                </a:solidFill>
              </a:rPr>
              <a:t>simulator driven by real ERA5 rain</a:t>
            </a:r>
            <a:endParaRPr lang="en-US" sz="1200" dirty="0"/>
          </a:p>
        </p:txBody>
      </p:sp>
      <p:sp>
        <p:nvSpPr>
          <p:cNvPr id="9" name="Shape 7"/>
          <p:cNvSpPr/>
          <p:nvPr/>
        </p:nvSpPr>
        <p:spPr>
          <a:xfrm>
            <a:off x="2077669" y="3657600"/>
            <a:ext cx="274320" cy="0"/>
          </a:xfrm>
          <a:prstGeom prst="line">
            <a:avLst/>
          </a:prstGeom>
          <a:noFill/>
          <a:ln w="25400">
            <a:solidFill>
              <a:schemeClr val="tx2"/>
            </a:solidFill>
            <a:prstDash val="solid"/>
            <a:tailEnd type="triangle"/>
          </a:ln>
        </p:spPr>
      </p:sp>
      <p:sp>
        <p:nvSpPr>
          <p:cNvPr id="10" name="step 2"/>
          <p:cNvSpPr txBox="1"/>
          <p:nvPr/>
        </p:nvSpPr>
        <p:spPr>
          <a:xfrm>
            <a:off x="2397709" y="1225296"/>
            <a:ext cx="329184" cy="329184"/>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9"/>
          <p:cNvSpPr txBox="1"/>
          <p:nvPr/>
        </p:nvSpPr>
        <p:spPr>
          <a:xfrm>
            <a:off x="2800045" y="1188720"/>
            <a:ext cx="1172413" cy="402336"/>
          </a:xfrm>
          <a:prstGeom prst="rect">
            <a:avLst/>
          </a:prstGeom>
          <a:noFill/>
          <a:ln/>
        </p:spPr>
        <p:txBody>
          <a:bodyPr wrap="square" lIns="0" tIns="0" rIns="0" bIns="0" rtlCol="0" anchor="ctr"/>
          <a:lstStyle/>
          <a:p>
            <a:pPr indent="0" marL="0">
              <a:buNone/>
            </a:pPr>
            <a:r>
              <a:rPr lang="en-US" sz="1500" b="1" dirty="0">
                <a:solidFill>
                  <a:schemeClr val="accent2"/>
                </a:solidFill>
              </a:rPr>
              <a:t>Ingestion</a:t>
            </a:r>
            <a:endParaRPr lang="en-US" sz="1500" dirty="0"/>
          </a:p>
        </p:txBody>
      </p:sp>
      <p:sp>
        <p:nvSpPr>
          <p:cNvPr id="12" name="Ingestion layer"/>
          <p:cNvSpPr/>
          <p:nvPr/>
        </p:nvSpPr>
        <p:spPr>
          <a:xfrm>
            <a:off x="2397709" y="1691640"/>
            <a:ext cx="1574749" cy="3931920"/>
          </a:xfrm>
          <a:prstGeom prst="roundRect">
            <a:avLst>
              <a:gd name="adj" fmla="val 5807"/>
            </a:avLst>
          </a:prstGeom>
          <a:solidFill>
            <a:schemeClr val="accent2">
              <a:alpha val="10000"/>
            </a:schemeClr>
          </a:solidFill>
          <a:ln w="9525">
            <a:solidFill>
              <a:schemeClr val="accent2"/>
            </a:solidFill>
            <a:prstDash val="solid"/>
          </a:ln>
        </p:spPr>
      </p:sp>
      <p:sp>
        <p:nvSpPr>
          <p:cNvPr id="13" name="Kafka producers → 4 topics"/>
          <p:cNvSpPr txBox="1"/>
          <p:nvPr/>
        </p:nvSpPr>
        <p:spPr>
          <a:xfrm>
            <a:off x="2489149" y="1801368"/>
            <a:ext cx="1391869" cy="1792224"/>
          </a:xfrm>
          <a:prstGeom prst="roundRect">
            <a:avLst>
              <a:gd name="adj" fmla="val 5256"/>
            </a:avLst>
          </a:prstGeom>
          <a:solidFill>
            <a:schemeClr val="bg1"/>
          </a:solidFill>
          <a:ln w="15875">
            <a:solidFill>
              <a:schemeClr val="accent2"/>
            </a:solidFill>
          </a:ln>
        </p:spPr>
        <p:txBody>
          <a:bodyPr wrap="square" lIns="50800" tIns="76200" rIns="76200" bIns="50800" rtlCol="0" anchor="ctr"/>
          <a:lstStyle/>
          <a:p>
            <a:pPr algn="l" indent="0" marL="0">
              <a:buNone/>
            </a:pPr>
            <a:r>
              <a:rPr lang="en-US" sz="1200" b="1" dirty="0">
                <a:solidFill>
                  <a:schemeClr val="tx1"/>
                </a:solidFill>
              </a:rPr>
              <a:t>Kafka producers → 4 topics</a:t>
            </a:r>
            <a:endParaRPr lang="en-US" sz="1200" dirty="0"/>
          </a:p>
          <a:p>
            <a:pPr algn="l" indent="0" marL="0">
              <a:buNone/>
            </a:pPr>
            <a:r>
              <a:rPr lang="en-US" sz="1050" dirty="0">
                <a:solidFill>
                  <a:schemeClr val="tx1"/>
                </a:solidFill>
              </a:rPr>
              <a:t>acks=all · key = station id · weather · water-level · traffic · incident-reports</a:t>
            </a:r>
            <a:endParaRPr lang="en-US" sz="1200" dirty="0"/>
          </a:p>
        </p:txBody>
      </p:sp>
      <p:sp>
        <p:nvSpPr>
          <p:cNvPr id="14" name="JSON-lines files"/>
          <p:cNvSpPr txBox="1"/>
          <p:nvPr/>
        </p:nvSpPr>
        <p:spPr>
          <a:xfrm>
            <a:off x="2489149" y="3721608"/>
            <a:ext cx="1391869" cy="1792224"/>
          </a:xfrm>
          <a:prstGeom prst="roundRect">
            <a:avLst>
              <a:gd name="adj" fmla="val 5256"/>
            </a:avLst>
          </a:prstGeom>
          <a:solidFill>
            <a:schemeClr val="bg1"/>
          </a:solidFill>
          <a:ln w="15875">
            <a:solidFill>
              <a:schemeClr val="accent2"/>
            </a:solidFill>
          </a:ln>
        </p:spPr>
        <p:txBody>
          <a:bodyPr wrap="square" lIns="50800" tIns="76200" rIns="76200" bIns="50800" rtlCol="0" anchor="ctr"/>
          <a:lstStyle/>
          <a:p>
            <a:pPr algn="l" indent="0" marL="0">
              <a:buNone/>
            </a:pPr>
            <a:r>
              <a:rPr lang="en-US" sz="1200" b="1" dirty="0">
                <a:solidFill>
                  <a:schemeClr val="tx1"/>
                </a:solidFill>
              </a:rPr>
              <a:t>JSON-lines files</a:t>
            </a:r>
            <a:endParaRPr lang="en-US" sz="1200" dirty="0"/>
          </a:p>
          <a:p>
            <a:pPr algn="l" indent="0" marL="0">
              <a:buNone/>
            </a:pPr>
            <a:r>
              <a:rPr lang="en-US" sz="1050" dirty="0">
                <a:solidFill>
                  <a:schemeClr val="tx1"/>
                </a:solidFill>
              </a:rPr>
              <a:t>60-day backfill · real and hybrid imports</a:t>
            </a:r>
            <a:endParaRPr lang="en-US" sz="1200" dirty="0"/>
          </a:p>
        </p:txBody>
      </p:sp>
      <p:sp>
        <p:nvSpPr>
          <p:cNvPr id="15" name="Shape 13"/>
          <p:cNvSpPr/>
          <p:nvPr/>
        </p:nvSpPr>
        <p:spPr>
          <a:xfrm>
            <a:off x="4018178" y="3657600"/>
            <a:ext cx="274320" cy="0"/>
          </a:xfrm>
          <a:prstGeom prst="line">
            <a:avLst/>
          </a:prstGeom>
          <a:noFill/>
          <a:ln w="25400">
            <a:solidFill>
              <a:schemeClr val="tx2"/>
            </a:solidFill>
            <a:prstDash val="solid"/>
            <a:tailEnd type="triangle"/>
          </a:ln>
        </p:spPr>
      </p:sp>
      <p:sp>
        <p:nvSpPr>
          <p:cNvPr id="16" name="step 3"/>
          <p:cNvSpPr txBox="1"/>
          <p:nvPr/>
        </p:nvSpPr>
        <p:spPr>
          <a:xfrm>
            <a:off x="4338218" y="1225296"/>
            <a:ext cx="329184" cy="329184"/>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5"/>
          <p:cNvSpPr txBox="1"/>
          <p:nvPr/>
        </p:nvSpPr>
        <p:spPr>
          <a:xfrm>
            <a:off x="4740554" y="1188720"/>
            <a:ext cx="1172413" cy="402336"/>
          </a:xfrm>
          <a:prstGeom prst="rect">
            <a:avLst/>
          </a:prstGeom>
          <a:noFill/>
          <a:ln/>
        </p:spPr>
        <p:txBody>
          <a:bodyPr wrap="square" lIns="0" tIns="0" rIns="0" bIns="0" rtlCol="0" anchor="ctr"/>
          <a:lstStyle/>
          <a:p>
            <a:pPr indent="0" marL="0">
              <a:buNone/>
            </a:pPr>
            <a:r>
              <a:rPr lang="en-US" sz="1500" b="1" dirty="0">
                <a:solidFill>
                  <a:schemeClr val="accent3"/>
                </a:solidFill>
              </a:rPr>
              <a:t>Spark 3.5</a:t>
            </a:r>
            <a:endParaRPr lang="en-US" sz="1500" dirty="0"/>
          </a:p>
        </p:txBody>
      </p:sp>
      <p:sp>
        <p:nvSpPr>
          <p:cNvPr id="18" name="Spark 3.5 layer"/>
          <p:cNvSpPr/>
          <p:nvPr/>
        </p:nvSpPr>
        <p:spPr>
          <a:xfrm>
            <a:off x="4338218" y="1691640"/>
            <a:ext cx="1574749" cy="3931920"/>
          </a:xfrm>
          <a:prstGeom prst="roundRect">
            <a:avLst>
              <a:gd name="adj" fmla="val 5807"/>
            </a:avLst>
          </a:prstGeom>
          <a:solidFill>
            <a:schemeClr val="accent3">
              <a:alpha val="10000"/>
            </a:schemeClr>
          </a:solidFill>
          <a:ln w="9525">
            <a:solidFill>
              <a:schemeClr val="accent3"/>
            </a:solidFill>
            <a:prstDash val="solid"/>
          </a:ln>
        </p:spPr>
      </p:sp>
      <p:sp>
        <p:nvSpPr>
          <p:cNvPr id="19" name="Structured Streaming"/>
          <p:cNvSpPr txBox="1"/>
          <p:nvPr/>
        </p:nvSpPr>
        <p:spPr>
          <a:xfrm>
            <a:off x="4429658" y="1801368"/>
            <a:ext cx="1391869" cy="832104"/>
          </a:xfrm>
          <a:prstGeom prst="roundRect">
            <a:avLst>
              <a:gd name="adj" fmla="val 8791"/>
            </a:avLst>
          </a:prstGeom>
          <a:solidFill>
            <a:schemeClr val="bg1"/>
          </a:solidFill>
          <a:ln w="15875">
            <a:solidFill>
              <a:schemeClr val="accent3"/>
            </a:solidFill>
          </a:ln>
        </p:spPr>
        <p:txBody>
          <a:bodyPr wrap="square" lIns="50800" tIns="76200" rIns="76200" bIns="50800" rtlCol="0" anchor="ctr"/>
          <a:lstStyle/>
          <a:p>
            <a:pPr algn="l" indent="0" marL="0">
              <a:buNone/>
            </a:pPr>
            <a:r>
              <a:rPr lang="en-US" sz="1200" b="1" dirty="0">
                <a:solidFill>
                  <a:schemeClr val="tx1"/>
                </a:solidFill>
              </a:rPr>
              <a:t>Structured Streaming</a:t>
            </a:r>
            <a:endParaRPr lang="en-US" sz="1200" dirty="0"/>
          </a:p>
          <a:p>
            <a:pPr algn="l" indent="0" marL="0">
              <a:buNone/>
            </a:pPr>
            <a:r>
              <a:rPr lang="en-US" sz="1050" dirty="0">
                <a:solidFill>
                  <a:schemeClr val="tx1"/>
                </a:solidFill>
              </a:rPr>
              <a:t>bronze_dq · silver · zone_risk</a:t>
            </a:r>
            <a:endParaRPr lang="en-US" sz="1200" dirty="0"/>
          </a:p>
        </p:txBody>
      </p:sp>
      <p:sp>
        <p:nvSpPr>
          <p:cNvPr id="20" name="Batch ETL"/>
          <p:cNvSpPr txBox="1"/>
          <p:nvPr/>
        </p:nvSpPr>
        <p:spPr>
          <a:xfrm>
            <a:off x="4429658" y="2761488"/>
            <a:ext cx="1391869" cy="832104"/>
          </a:xfrm>
          <a:prstGeom prst="roundRect">
            <a:avLst>
              <a:gd name="adj" fmla="val 8791"/>
            </a:avLst>
          </a:prstGeom>
          <a:solidFill>
            <a:schemeClr val="bg1"/>
          </a:solidFill>
          <a:ln w="15875">
            <a:solidFill>
              <a:schemeClr val="accent3"/>
            </a:solidFill>
          </a:ln>
        </p:spPr>
        <p:txBody>
          <a:bodyPr wrap="square" lIns="50800" tIns="76200" rIns="76200" bIns="50800" rtlCol="0" anchor="ctr"/>
          <a:lstStyle/>
          <a:p>
            <a:pPr algn="l" indent="0" marL="0">
              <a:buNone/>
            </a:pPr>
            <a:r>
              <a:rPr lang="en-US" sz="1200" b="1" dirty="0">
                <a:solidFill>
                  <a:schemeClr val="tx1"/>
                </a:solidFill>
              </a:rPr>
              <a:t>Batch ETL</a:t>
            </a:r>
            <a:endParaRPr lang="en-US" sz="1200" dirty="0"/>
          </a:p>
          <a:p>
            <a:pPr algn="l" indent="0" marL="0">
              <a:buNone/>
            </a:pPr>
            <a:r>
              <a:rPr lang="en-US" sz="1050" dirty="0">
                <a:solidFill>
                  <a:schemeClr val="tx1"/>
                </a:solidFill>
              </a:rPr>
              <a:t>bronze → silver → gold</a:t>
            </a:r>
            <a:endParaRPr lang="en-US" sz="1200" dirty="0"/>
          </a:p>
        </p:txBody>
      </p:sp>
      <p:sp>
        <p:nvSpPr>
          <p:cNvPr id="21" name="RDD · Spark SQL"/>
          <p:cNvSpPr txBox="1"/>
          <p:nvPr/>
        </p:nvSpPr>
        <p:spPr>
          <a:xfrm>
            <a:off x="4429658" y="3721608"/>
            <a:ext cx="1391869" cy="832104"/>
          </a:xfrm>
          <a:prstGeom prst="roundRect">
            <a:avLst>
              <a:gd name="adj" fmla="val 8791"/>
            </a:avLst>
          </a:prstGeom>
          <a:solidFill>
            <a:schemeClr val="bg1"/>
          </a:solidFill>
          <a:ln w="15875">
            <a:solidFill>
              <a:schemeClr val="accent3"/>
            </a:solidFill>
          </a:ln>
        </p:spPr>
        <p:txBody>
          <a:bodyPr wrap="square" lIns="50800" tIns="76200" rIns="76200" bIns="50800" rtlCol="0" anchor="ctr"/>
          <a:lstStyle/>
          <a:p>
            <a:pPr algn="l" indent="0" marL="0">
              <a:buNone/>
            </a:pPr>
            <a:r>
              <a:rPr lang="en-US" sz="1200" b="1" dirty="0">
                <a:solidFill>
                  <a:schemeClr val="tx1"/>
                </a:solidFill>
              </a:rPr>
              <a:t>RDD · Spark SQL</a:t>
            </a:r>
            <a:endParaRPr lang="en-US" sz="1200" dirty="0"/>
          </a:p>
          <a:p>
            <a:pPr algn="l" indent="0" marL="0">
              <a:buNone/>
            </a:pPr>
            <a:r>
              <a:rPr lang="en-US" sz="1050" dirty="0">
                <a:solidFill>
                  <a:schemeClr val="tx1"/>
                </a:solidFill>
              </a:rPr>
              <a:t>spatial analytics</a:t>
            </a:r>
            <a:endParaRPr lang="en-US" sz="1200" dirty="0"/>
          </a:p>
        </p:txBody>
      </p:sp>
      <p:sp>
        <p:nvSpPr>
          <p:cNvPr id="22" name="MLlib"/>
          <p:cNvSpPr txBox="1"/>
          <p:nvPr/>
        </p:nvSpPr>
        <p:spPr>
          <a:xfrm>
            <a:off x="4429658" y="4681728"/>
            <a:ext cx="1391869" cy="832104"/>
          </a:xfrm>
          <a:prstGeom prst="roundRect">
            <a:avLst>
              <a:gd name="adj" fmla="val 8791"/>
            </a:avLst>
          </a:prstGeom>
          <a:solidFill>
            <a:schemeClr val="bg1"/>
          </a:solidFill>
          <a:ln w="15875">
            <a:solidFill>
              <a:schemeClr val="accent3"/>
            </a:solidFill>
          </a:ln>
        </p:spPr>
        <p:txBody>
          <a:bodyPr wrap="square" lIns="50800" tIns="76200" rIns="76200" bIns="50800" rtlCol="0" anchor="ctr"/>
          <a:lstStyle/>
          <a:p>
            <a:pPr algn="l" indent="0" marL="0">
              <a:buNone/>
            </a:pPr>
            <a:r>
              <a:rPr lang="en-US" sz="1200" b="1" dirty="0">
                <a:solidFill>
                  <a:schemeClr val="tx1"/>
                </a:solidFill>
              </a:rPr>
              <a:t>MLlib</a:t>
            </a:r>
            <a:endParaRPr lang="en-US" sz="1200" dirty="0"/>
          </a:p>
          <a:p>
            <a:pPr algn="l" indent="0" marL="0">
              <a:buNone/>
            </a:pPr>
            <a:r>
              <a:rPr lang="en-US" sz="1050" dirty="0">
                <a:solidFill>
                  <a:schemeClr val="tx1"/>
                </a:solidFill>
              </a:rPr>
              <a:t>decision tree, train + infer</a:t>
            </a:r>
            <a:endParaRPr lang="en-US" sz="1200" dirty="0"/>
          </a:p>
        </p:txBody>
      </p:sp>
      <p:sp>
        <p:nvSpPr>
          <p:cNvPr id="23" name="Shape 21"/>
          <p:cNvSpPr/>
          <p:nvPr/>
        </p:nvSpPr>
        <p:spPr>
          <a:xfrm>
            <a:off x="5958688" y="3657600"/>
            <a:ext cx="274320" cy="0"/>
          </a:xfrm>
          <a:prstGeom prst="line">
            <a:avLst/>
          </a:prstGeom>
          <a:noFill/>
          <a:ln w="25400">
            <a:solidFill>
              <a:schemeClr val="tx2"/>
            </a:solidFill>
            <a:prstDash val="solid"/>
            <a:tailEnd type="triangle"/>
          </a:ln>
        </p:spPr>
      </p:sp>
      <p:sp>
        <p:nvSpPr>
          <p:cNvPr id="24" name="step 4"/>
          <p:cNvSpPr txBox="1"/>
          <p:nvPr/>
        </p:nvSpPr>
        <p:spPr>
          <a:xfrm>
            <a:off x="6278728" y="1225296"/>
            <a:ext cx="329184" cy="329184"/>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5" name="Text 23"/>
          <p:cNvSpPr txBox="1"/>
          <p:nvPr/>
        </p:nvSpPr>
        <p:spPr>
          <a:xfrm>
            <a:off x="6681064" y="1188720"/>
            <a:ext cx="1172413" cy="402336"/>
          </a:xfrm>
          <a:prstGeom prst="rect">
            <a:avLst/>
          </a:prstGeom>
          <a:noFill/>
          <a:ln/>
        </p:spPr>
        <p:txBody>
          <a:bodyPr wrap="square" lIns="0" tIns="0" rIns="0" bIns="0" rtlCol="0" anchor="ctr"/>
          <a:lstStyle/>
          <a:p>
            <a:pPr indent="0" marL="0">
              <a:buNone/>
            </a:pPr>
            <a:r>
              <a:rPr lang="en-US" sz="1500" b="1" dirty="0">
                <a:solidFill>
                  <a:schemeClr val="accent4"/>
                </a:solidFill>
              </a:rPr>
              <a:t>Storage</a:t>
            </a:r>
            <a:endParaRPr lang="en-US" sz="1500" dirty="0"/>
          </a:p>
        </p:txBody>
      </p:sp>
      <p:sp>
        <p:nvSpPr>
          <p:cNvPr id="26" name="Storage layer"/>
          <p:cNvSpPr/>
          <p:nvPr/>
        </p:nvSpPr>
        <p:spPr>
          <a:xfrm>
            <a:off x="6278728" y="1691640"/>
            <a:ext cx="1574749" cy="3931920"/>
          </a:xfrm>
          <a:prstGeom prst="roundRect">
            <a:avLst>
              <a:gd name="adj" fmla="val 5807"/>
            </a:avLst>
          </a:prstGeom>
          <a:solidFill>
            <a:schemeClr val="accent4">
              <a:alpha val="10000"/>
            </a:schemeClr>
          </a:solidFill>
          <a:ln w="9525">
            <a:solidFill>
              <a:schemeClr val="accent4"/>
            </a:solidFill>
            <a:prstDash val="solid"/>
          </a:ln>
        </p:spPr>
      </p:sp>
      <p:sp>
        <p:nvSpPr>
          <p:cNvPr id="27" name="Parquet lake"/>
          <p:cNvSpPr txBox="1"/>
          <p:nvPr/>
        </p:nvSpPr>
        <p:spPr>
          <a:xfrm>
            <a:off x="6370168" y="1801368"/>
            <a:ext cx="1391869" cy="832104"/>
          </a:xfrm>
          <a:prstGeom prst="roundRect">
            <a:avLst>
              <a:gd name="adj" fmla="val 8791"/>
            </a:avLst>
          </a:prstGeom>
          <a:solidFill>
            <a:schemeClr val="bg1"/>
          </a:solidFill>
          <a:ln w="15875">
            <a:solidFill>
              <a:schemeClr val="accent4"/>
            </a:solidFill>
          </a:ln>
        </p:spPr>
        <p:txBody>
          <a:bodyPr wrap="square" lIns="50800" tIns="76200" rIns="76200" bIns="50800" rtlCol="0" anchor="ctr"/>
          <a:lstStyle/>
          <a:p>
            <a:pPr algn="l" indent="0" marL="0">
              <a:buNone/>
            </a:pPr>
            <a:r>
              <a:rPr lang="en-US" sz="1200" b="1" dirty="0">
                <a:solidFill>
                  <a:schemeClr val="tx1"/>
                </a:solidFill>
              </a:rPr>
              <a:t>Parquet lake</a:t>
            </a:r>
            <a:endParaRPr lang="en-US" sz="1200" dirty="0"/>
          </a:p>
          <a:p>
            <a:pPr algn="l" indent="0" marL="0">
              <a:buNone/>
            </a:pPr>
            <a:r>
              <a:rPr lang="en-US" sz="1050" dirty="0">
                <a:solidFill>
                  <a:schemeClr val="tx1"/>
                </a:solidFill>
              </a:rPr>
              <a:t>bronze · silver · gold · live</a:t>
            </a:r>
            <a:endParaRPr lang="en-US" sz="1200" dirty="0"/>
          </a:p>
        </p:txBody>
      </p:sp>
      <p:sp>
        <p:nvSpPr>
          <p:cNvPr id="28" name="HBase 2.5"/>
          <p:cNvSpPr txBox="1"/>
          <p:nvPr/>
        </p:nvSpPr>
        <p:spPr>
          <a:xfrm>
            <a:off x="6370168" y="2761488"/>
            <a:ext cx="1391869" cy="832104"/>
          </a:xfrm>
          <a:prstGeom prst="roundRect">
            <a:avLst>
              <a:gd name="adj" fmla="val 8791"/>
            </a:avLst>
          </a:prstGeom>
          <a:solidFill>
            <a:schemeClr val="bg1"/>
          </a:solidFill>
          <a:ln w="15875">
            <a:solidFill>
              <a:schemeClr val="accent4"/>
            </a:solidFill>
          </a:ln>
        </p:spPr>
        <p:txBody>
          <a:bodyPr wrap="square" lIns="50800" tIns="76200" rIns="76200" bIns="50800" rtlCol="0" anchor="ctr"/>
          <a:lstStyle/>
          <a:p>
            <a:pPr algn="l" indent="0" marL="0">
              <a:buNone/>
            </a:pPr>
            <a:r>
              <a:rPr lang="en-US" sz="1200" b="1" dirty="0">
                <a:solidFill>
                  <a:schemeClr val="tx1"/>
                </a:solidFill>
              </a:rPr>
              <a:t>HBase 2.5</a:t>
            </a:r>
            <a:endParaRPr lang="en-US" sz="1200" dirty="0"/>
          </a:p>
          <a:p>
            <a:pPr algn="l" indent="0" marL="0">
              <a:buNone/>
            </a:pPr>
            <a:r>
              <a:rPr lang="en-US" sz="1050" dirty="0">
                <a:solidFill>
                  <a:schemeClr val="tx1"/>
                </a:solidFill>
              </a:rPr>
              <a:t>5 wide-column tables</a:t>
            </a:r>
            <a:endParaRPr lang="en-US" sz="1200" dirty="0"/>
          </a:p>
        </p:txBody>
      </p:sp>
      <p:sp>
        <p:nvSpPr>
          <p:cNvPr id="29" name="Derived topics"/>
          <p:cNvSpPr txBox="1"/>
          <p:nvPr/>
        </p:nvSpPr>
        <p:spPr>
          <a:xfrm>
            <a:off x="6370168" y="3721608"/>
            <a:ext cx="1391869" cy="832104"/>
          </a:xfrm>
          <a:prstGeom prst="roundRect">
            <a:avLst>
              <a:gd name="adj" fmla="val 8791"/>
            </a:avLst>
          </a:prstGeom>
          <a:solidFill>
            <a:schemeClr val="bg1"/>
          </a:solidFill>
          <a:ln w="15875">
            <a:solidFill>
              <a:schemeClr val="accent4"/>
            </a:solidFill>
          </a:ln>
        </p:spPr>
        <p:txBody>
          <a:bodyPr wrap="square" lIns="50800" tIns="76200" rIns="76200" bIns="50800" rtlCol="0" anchor="ctr"/>
          <a:lstStyle/>
          <a:p>
            <a:pPr algn="l" indent="0" marL="0">
              <a:buNone/>
            </a:pPr>
            <a:r>
              <a:rPr lang="en-US" sz="1200" b="1" dirty="0">
                <a:solidFill>
                  <a:schemeClr val="tx1"/>
                </a:solidFill>
              </a:rPr>
              <a:t>Derived topics</a:t>
            </a:r>
            <a:endParaRPr lang="en-US" sz="1200" dirty="0"/>
          </a:p>
          <a:p>
            <a:pPr algn="l" indent="0" marL="0">
              <a:buNone/>
            </a:pPr>
            <a:r>
              <a:rPr lang="en-US" sz="1050" dirty="0">
                <a:solidFill>
                  <a:schemeClr val="tx1"/>
                </a:solidFill>
              </a:rPr>
              <a:t>zone-risk-updates · data-quality-events</a:t>
            </a:r>
            <a:endParaRPr lang="en-US" sz="1200" dirty="0"/>
          </a:p>
        </p:txBody>
      </p:sp>
      <p:sp>
        <p:nvSpPr>
          <p:cNvPr id="30" name="State + model files"/>
          <p:cNvSpPr txBox="1"/>
          <p:nvPr/>
        </p:nvSpPr>
        <p:spPr>
          <a:xfrm>
            <a:off x="6370168" y="4681728"/>
            <a:ext cx="1391869" cy="832104"/>
          </a:xfrm>
          <a:prstGeom prst="roundRect">
            <a:avLst>
              <a:gd name="adj" fmla="val 8791"/>
            </a:avLst>
          </a:prstGeom>
          <a:solidFill>
            <a:schemeClr val="bg1"/>
          </a:solidFill>
          <a:ln w="15875">
            <a:solidFill>
              <a:schemeClr val="accent4"/>
            </a:solidFill>
          </a:ln>
        </p:spPr>
        <p:txBody>
          <a:bodyPr wrap="square" lIns="50800" tIns="76200" rIns="76200" bIns="50800" rtlCol="0" anchor="ctr"/>
          <a:lstStyle/>
          <a:p>
            <a:pPr algn="l" indent="0" marL="0">
              <a:buNone/>
            </a:pPr>
            <a:r>
              <a:rPr lang="en-US" sz="1200" b="1" dirty="0">
                <a:solidFill>
                  <a:schemeClr val="tx1"/>
                </a:solidFill>
              </a:rPr>
              <a:t>State + model files</a:t>
            </a:r>
            <a:endParaRPr lang="en-US" sz="1200" dirty="0"/>
          </a:p>
          <a:p>
            <a:pPr algn="l" indent="0" marL="0">
              <a:buNone/>
            </a:pPr>
            <a:r>
              <a:rPr lang="en-US" sz="1050" dirty="0">
                <a:solidFill>
                  <a:schemeClr val="tx1"/>
                </a:solidFill>
              </a:rPr>
              <a:t>status · snapshot · model</a:t>
            </a:r>
            <a:endParaRPr lang="en-US" sz="1200" dirty="0"/>
          </a:p>
        </p:txBody>
      </p:sp>
      <p:sp>
        <p:nvSpPr>
          <p:cNvPr id="31" name="Shape 29"/>
          <p:cNvSpPr/>
          <p:nvPr/>
        </p:nvSpPr>
        <p:spPr>
          <a:xfrm>
            <a:off x="7899197" y="3657600"/>
            <a:ext cx="274320" cy="0"/>
          </a:xfrm>
          <a:prstGeom prst="line">
            <a:avLst/>
          </a:prstGeom>
          <a:noFill/>
          <a:ln w="25400">
            <a:solidFill>
              <a:schemeClr val="tx2"/>
            </a:solidFill>
            <a:prstDash val="solid"/>
            <a:tailEnd type="triangle"/>
          </a:ln>
        </p:spPr>
      </p:sp>
      <p:sp>
        <p:nvSpPr>
          <p:cNvPr id="32" name="step 5"/>
          <p:cNvSpPr txBox="1"/>
          <p:nvPr/>
        </p:nvSpPr>
        <p:spPr>
          <a:xfrm>
            <a:off x="8219237" y="1225296"/>
            <a:ext cx="329184" cy="329184"/>
          </a:xfrm>
          <a:prstGeom prst="ellipse">
            <a:avLst/>
          </a:prstGeom>
          <a:solidFill>
            <a:schemeClr val="accent5"/>
          </a:solidFill>
          <a:ln>
            <a:solidFill>
              <a:schemeClr val="accent5"/>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3" name="Text 31"/>
          <p:cNvSpPr txBox="1"/>
          <p:nvPr/>
        </p:nvSpPr>
        <p:spPr>
          <a:xfrm>
            <a:off x="8621573" y="1188720"/>
            <a:ext cx="1172413" cy="402336"/>
          </a:xfrm>
          <a:prstGeom prst="rect">
            <a:avLst/>
          </a:prstGeom>
          <a:noFill/>
          <a:ln/>
        </p:spPr>
        <p:txBody>
          <a:bodyPr wrap="square" lIns="0" tIns="0" rIns="0" bIns="0" rtlCol="0" anchor="ctr"/>
          <a:lstStyle/>
          <a:p>
            <a:pPr indent="0" marL="0">
              <a:buNone/>
            </a:pPr>
            <a:r>
              <a:rPr lang="en-US" sz="1500" b="1" dirty="0">
                <a:solidFill>
                  <a:schemeClr val="accent5"/>
                </a:solidFill>
              </a:rPr>
              <a:t>Serving</a:t>
            </a:r>
            <a:endParaRPr lang="en-US" sz="1500" dirty="0"/>
          </a:p>
        </p:txBody>
      </p:sp>
      <p:sp>
        <p:nvSpPr>
          <p:cNvPr id="34" name="Serving layer"/>
          <p:cNvSpPr/>
          <p:nvPr/>
        </p:nvSpPr>
        <p:spPr>
          <a:xfrm>
            <a:off x="8219237" y="1691640"/>
            <a:ext cx="1574749" cy="3931920"/>
          </a:xfrm>
          <a:prstGeom prst="roundRect">
            <a:avLst>
              <a:gd name="adj" fmla="val 5807"/>
            </a:avLst>
          </a:prstGeom>
          <a:solidFill>
            <a:schemeClr val="accent5">
              <a:alpha val="10000"/>
            </a:schemeClr>
          </a:solidFill>
          <a:ln w="9525">
            <a:solidFill>
              <a:schemeClr val="accent5"/>
            </a:solidFill>
            <a:prstDash val="solid"/>
          </a:ln>
        </p:spPr>
      </p:sp>
      <p:sp>
        <p:nvSpPr>
          <p:cNvPr id="35" name="FastAPI"/>
          <p:cNvSpPr txBox="1"/>
          <p:nvPr/>
        </p:nvSpPr>
        <p:spPr>
          <a:xfrm>
            <a:off x="8310677" y="1801368"/>
            <a:ext cx="1391869" cy="1152144"/>
          </a:xfrm>
          <a:prstGeom prst="roundRect">
            <a:avLst>
              <a:gd name="adj" fmla="val 6349"/>
            </a:avLst>
          </a:prstGeom>
          <a:solidFill>
            <a:schemeClr val="bg1"/>
          </a:solidFill>
          <a:ln w="15875">
            <a:solidFill>
              <a:schemeClr val="accent5"/>
            </a:solidFill>
          </a:ln>
        </p:spPr>
        <p:txBody>
          <a:bodyPr wrap="square" lIns="50800" tIns="76200" rIns="76200" bIns="50800" rtlCol="0" anchor="ctr"/>
          <a:lstStyle/>
          <a:p>
            <a:pPr algn="l" indent="0" marL="0">
              <a:buNone/>
            </a:pPr>
            <a:r>
              <a:rPr lang="en-US" sz="1200" b="1" dirty="0">
                <a:solidFill>
                  <a:schemeClr val="tx1"/>
                </a:solidFill>
              </a:rPr>
              <a:t>FastAPI</a:t>
            </a:r>
            <a:endParaRPr lang="en-US" sz="1200" dirty="0"/>
          </a:p>
          <a:p>
            <a:pPr algn="l" indent="0" marL="0">
              <a:buNone/>
            </a:pPr>
            <a:r>
              <a:rPr lang="en-US" sz="1050" dirty="0">
                <a:solidFill>
                  <a:schemeClr val="tx1"/>
                </a:solidFill>
              </a:rPr>
              <a:t>16 REST endpoints</a:t>
            </a:r>
            <a:endParaRPr lang="en-US" sz="1200" dirty="0"/>
          </a:p>
        </p:txBody>
      </p:sp>
      <p:sp>
        <p:nvSpPr>
          <p:cNvPr id="36" name="Server-Sent Events"/>
          <p:cNvSpPr txBox="1"/>
          <p:nvPr/>
        </p:nvSpPr>
        <p:spPr>
          <a:xfrm>
            <a:off x="8310677" y="3081528"/>
            <a:ext cx="1391869" cy="1152144"/>
          </a:xfrm>
          <a:prstGeom prst="roundRect">
            <a:avLst>
              <a:gd name="adj" fmla="val 6349"/>
            </a:avLst>
          </a:prstGeom>
          <a:solidFill>
            <a:schemeClr val="bg1"/>
          </a:solidFill>
          <a:ln w="15875">
            <a:solidFill>
              <a:schemeClr val="accent5"/>
            </a:solidFill>
          </a:ln>
        </p:spPr>
        <p:txBody>
          <a:bodyPr wrap="square" lIns="50800" tIns="76200" rIns="76200" bIns="50800" rtlCol="0" anchor="ctr"/>
          <a:lstStyle/>
          <a:p>
            <a:pPr algn="l" indent="0" marL="0">
              <a:buNone/>
            </a:pPr>
            <a:r>
              <a:rPr lang="en-US" sz="1200" b="1" dirty="0">
                <a:solidFill>
                  <a:schemeClr val="tx1"/>
                </a:solidFill>
              </a:rPr>
              <a:t>Server-Sent Events</a:t>
            </a:r>
            <a:endParaRPr lang="en-US" sz="1200" dirty="0"/>
          </a:p>
          <a:p>
            <a:pPr algn="l" indent="0" marL="0">
              <a:buNone/>
            </a:pPr>
            <a:r>
              <a:rPr lang="en-US" sz="1050" dirty="0">
                <a:solidFill>
                  <a:schemeClr val="tx1"/>
                </a:solidFill>
              </a:rPr>
              <a:t>/api/stream live push</a:t>
            </a:r>
            <a:endParaRPr lang="en-US" sz="1200" dirty="0"/>
          </a:p>
        </p:txBody>
      </p:sp>
      <p:sp>
        <p:nvSpPr>
          <p:cNvPr id="37" name="Services"/>
          <p:cNvSpPr txBox="1"/>
          <p:nvPr/>
        </p:nvSpPr>
        <p:spPr>
          <a:xfrm>
            <a:off x="8310677" y="4361688"/>
            <a:ext cx="1391869" cy="1152144"/>
          </a:xfrm>
          <a:prstGeom prst="roundRect">
            <a:avLst>
              <a:gd name="adj" fmla="val 6349"/>
            </a:avLst>
          </a:prstGeom>
          <a:solidFill>
            <a:schemeClr val="bg1"/>
          </a:solidFill>
          <a:ln w="15875">
            <a:solidFill>
              <a:schemeClr val="accent5"/>
            </a:solidFill>
          </a:ln>
        </p:spPr>
        <p:txBody>
          <a:bodyPr wrap="square" lIns="50800" tIns="76200" rIns="76200" bIns="50800" rtlCol="0" anchor="ctr"/>
          <a:lstStyle/>
          <a:p>
            <a:pPr algn="l" indent="0" marL="0">
              <a:buNone/>
            </a:pPr>
            <a:r>
              <a:rPr lang="en-US" sz="1200" b="1" dirty="0">
                <a:solidFill>
                  <a:schemeClr val="tx1"/>
                </a:solidFill>
              </a:rPr>
              <a:t>Services</a:t>
            </a:r>
            <a:endParaRPr lang="en-US" sz="1200" dirty="0"/>
          </a:p>
          <a:p>
            <a:pPr algn="l" indent="0" marL="0">
              <a:buNone/>
            </a:pPr>
            <a:r>
              <a:rPr lang="en-US" sz="1050" dirty="0">
                <a:solidFill>
                  <a:schemeClr val="tx1"/>
                </a:solidFill>
              </a:rPr>
              <a:t>zones · incidents · analytics · model · pipeline</a:t>
            </a:r>
            <a:endParaRPr lang="en-US" sz="1200" dirty="0"/>
          </a:p>
        </p:txBody>
      </p:sp>
      <p:sp>
        <p:nvSpPr>
          <p:cNvPr id="38" name="Shape 36"/>
          <p:cNvSpPr/>
          <p:nvPr/>
        </p:nvSpPr>
        <p:spPr>
          <a:xfrm>
            <a:off x="9839706" y="3657600"/>
            <a:ext cx="274320" cy="0"/>
          </a:xfrm>
          <a:prstGeom prst="line">
            <a:avLst/>
          </a:prstGeom>
          <a:noFill/>
          <a:ln w="25400">
            <a:solidFill>
              <a:schemeClr val="tx2"/>
            </a:solidFill>
            <a:prstDash val="solid"/>
            <a:tailEnd type="triangle"/>
          </a:ln>
        </p:spPr>
      </p:sp>
      <p:sp>
        <p:nvSpPr>
          <p:cNvPr id="39" name="step 6"/>
          <p:cNvSpPr txBox="1"/>
          <p:nvPr/>
        </p:nvSpPr>
        <p:spPr>
          <a:xfrm>
            <a:off x="10159746" y="1225296"/>
            <a:ext cx="329184" cy="329184"/>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40" name="Text 38"/>
          <p:cNvSpPr txBox="1"/>
          <p:nvPr/>
        </p:nvSpPr>
        <p:spPr>
          <a:xfrm>
            <a:off x="10562082" y="1188720"/>
            <a:ext cx="1172413" cy="402336"/>
          </a:xfrm>
          <a:prstGeom prst="rect">
            <a:avLst/>
          </a:prstGeom>
          <a:noFill/>
          <a:ln/>
        </p:spPr>
        <p:txBody>
          <a:bodyPr wrap="square" lIns="0" tIns="0" rIns="0" bIns="0" rtlCol="0" anchor="ctr"/>
          <a:lstStyle/>
          <a:p>
            <a:pPr indent="0" marL="0">
              <a:buNone/>
            </a:pPr>
            <a:r>
              <a:rPr lang="en-US" sz="1500" b="1" dirty="0">
                <a:solidFill>
                  <a:schemeClr val="accent6"/>
                </a:solidFill>
              </a:rPr>
              <a:t>Dashboard</a:t>
            </a:r>
            <a:endParaRPr lang="en-US" sz="1500" dirty="0"/>
          </a:p>
        </p:txBody>
      </p:sp>
      <p:sp>
        <p:nvSpPr>
          <p:cNvPr id="41" name="Dashboard layer"/>
          <p:cNvSpPr/>
          <p:nvPr/>
        </p:nvSpPr>
        <p:spPr>
          <a:xfrm>
            <a:off x="10159746" y="1691640"/>
            <a:ext cx="1574749" cy="3931920"/>
          </a:xfrm>
          <a:prstGeom prst="roundRect">
            <a:avLst>
              <a:gd name="adj" fmla="val 5807"/>
            </a:avLst>
          </a:prstGeom>
          <a:solidFill>
            <a:schemeClr val="accent6">
              <a:alpha val="10000"/>
            </a:schemeClr>
          </a:solidFill>
          <a:ln w="9525">
            <a:solidFill>
              <a:schemeClr val="accent6"/>
            </a:solidFill>
            <a:prstDash val="solid"/>
          </a:ln>
        </p:spPr>
      </p:sp>
      <p:sp>
        <p:nvSpPr>
          <p:cNvPr id="42" name="React + Vite"/>
          <p:cNvSpPr txBox="1"/>
          <p:nvPr/>
        </p:nvSpPr>
        <p:spPr>
          <a:xfrm>
            <a:off x="10251186" y="1801368"/>
            <a:ext cx="1391869" cy="1152144"/>
          </a:xfrm>
          <a:prstGeom prst="roundRect">
            <a:avLst>
              <a:gd name="adj" fmla="val 6349"/>
            </a:avLst>
          </a:prstGeom>
          <a:solidFill>
            <a:schemeClr val="bg1"/>
          </a:solidFill>
          <a:ln w="15875">
            <a:solidFill>
              <a:schemeClr val="accent6"/>
            </a:solidFill>
          </a:ln>
        </p:spPr>
        <p:txBody>
          <a:bodyPr wrap="square" lIns="50800" tIns="76200" rIns="76200" bIns="50800" rtlCol="0" anchor="ctr"/>
          <a:lstStyle/>
          <a:p>
            <a:pPr algn="l" indent="0" marL="0">
              <a:buNone/>
            </a:pPr>
            <a:r>
              <a:rPr lang="en-US" sz="1200" b="1" dirty="0">
                <a:solidFill>
                  <a:schemeClr val="tx1"/>
                </a:solidFill>
              </a:rPr>
              <a:t>React + Vite</a:t>
            </a:r>
            <a:endParaRPr lang="en-US" sz="1200" dirty="0"/>
          </a:p>
          <a:p>
            <a:pPr algn="l" indent="0" marL="0">
              <a:buNone/>
            </a:pPr>
            <a:r>
              <a:rPr lang="en-US" sz="1050" dirty="0">
                <a:solidFill>
                  <a:schemeClr val="tx1"/>
                </a:solidFill>
              </a:rPr>
              <a:t>7 tabs, live + history</a:t>
            </a:r>
            <a:endParaRPr lang="en-US" sz="1200" dirty="0"/>
          </a:p>
        </p:txBody>
      </p:sp>
      <p:sp>
        <p:nvSpPr>
          <p:cNvPr id="43" name="Leaflet map"/>
          <p:cNvSpPr txBox="1"/>
          <p:nvPr/>
        </p:nvSpPr>
        <p:spPr>
          <a:xfrm>
            <a:off x="10251186" y="3081528"/>
            <a:ext cx="1391869" cy="1152144"/>
          </a:xfrm>
          <a:prstGeom prst="roundRect">
            <a:avLst>
              <a:gd name="adj" fmla="val 6349"/>
            </a:avLst>
          </a:prstGeom>
          <a:solidFill>
            <a:schemeClr val="bg1"/>
          </a:solidFill>
          <a:ln w="15875">
            <a:solidFill>
              <a:schemeClr val="accent6"/>
            </a:solidFill>
          </a:ln>
        </p:spPr>
        <p:txBody>
          <a:bodyPr wrap="square" lIns="50800" tIns="76200" rIns="76200" bIns="50800" rtlCol="0" anchor="ctr"/>
          <a:lstStyle/>
          <a:p>
            <a:pPr algn="l" indent="0" marL="0">
              <a:buNone/>
            </a:pPr>
            <a:r>
              <a:rPr lang="en-US" sz="1200" b="1" dirty="0">
                <a:solidFill>
                  <a:schemeClr val="tx1"/>
                </a:solidFill>
              </a:rPr>
              <a:t>Leaflet map</a:t>
            </a:r>
            <a:endParaRPr lang="en-US" sz="1200" dirty="0"/>
          </a:p>
          <a:p>
            <a:pPr algn="l" indent="0" marL="0">
              <a:buNone/>
            </a:pPr>
            <a:r>
              <a:rPr lang="en-US" sz="1050" dirty="0">
                <a:solidFill>
                  <a:schemeClr val="tx1"/>
                </a:solidFill>
              </a:rPr>
              <a:t>40 risk-coloured zones, nearby search</a:t>
            </a:r>
            <a:endParaRPr lang="en-US" sz="1200" dirty="0"/>
          </a:p>
        </p:txBody>
      </p:sp>
      <p:sp>
        <p:nvSpPr>
          <p:cNvPr id="44" name="Recharts"/>
          <p:cNvSpPr txBox="1"/>
          <p:nvPr/>
        </p:nvSpPr>
        <p:spPr>
          <a:xfrm>
            <a:off x="10251186" y="4361688"/>
            <a:ext cx="1391869" cy="1152144"/>
          </a:xfrm>
          <a:prstGeom prst="roundRect">
            <a:avLst>
              <a:gd name="adj" fmla="val 6349"/>
            </a:avLst>
          </a:prstGeom>
          <a:solidFill>
            <a:schemeClr val="bg1"/>
          </a:solidFill>
          <a:ln w="15875">
            <a:solidFill>
              <a:schemeClr val="accent6"/>
            </a:solidFill>
          </a:ln>
        </p:spPr>
        <p:txBody>
          <a:bodyPr wrap="square" lIns="50800" tIns="76200" rIns="76200" bIns="50800" rtlCol="0" anchor="ctr"/>
          <a:lstStyle/>
          <a:p>
            <a:pPr algn="l" indent="0" marL="0">
              <a:buNone/>
            </a:pPr>
            <a:r>
              <a:rPr lang="en-US" sz="1200" b="1" dirty="0">
                <a:solidFill>
                  <a:schemeClr val="tx1"/>
                </a:solidFill>
              </a:rPr>
              <a:t>Recharts</a:t>
            </a:r>
            <a:endParaRPr lang="en-US" sz="1200" dirty="0"/>
          </a:p>
          <a:p>
            <a:pPr algn="l" indent="0" marL="0">
              <a:buNone/>
            </a:pPr>
            <a:r>
              <a:rPr lang="en-US" sz="1050" dirty="0">
                <a:solidFill>
                  <a:schemeClr val="tx1"/>
                </a:solidFill>
              </a:rPr>
              <a:t>trends · data quality · ML</a:t>
            </a:r>
            <a:endParaRPr lang="en-US" sz="1200" dirty="0"/>
          </a:p>
        </p:txBody>
      </p:sp>
      <p:sp>
        <p:nvSpPr>
          <p:cNvPr id="45" name="shared foundation"/>
          <p:cNvSpPr txBox="1"/>
          <p:nvPr/>
        </p:nvSpPr>
        <p:spPr>
          <a:xfrm>
            <a:off x="457200" y="5788152"/>
            <a:ext cx="11277295" cy="457200"/>
          </a:xfrm>
          <a:prstGeom prst="roundRect">
            <a:avLst>
              <a:gd name="adj" fmla="val 16000"/>
            </a:avLst>
          </a:prstGeom>
          <a:solidFill>
            <a:schemeClr val="bg2"/>
          </a:solidFill>
          <a:ln>
            <a:solidFill>
              <a:schemeClr val="bg2"/>
            </a:solidFill>
          </a:ln>
        </p:spPr>
        <p:txBody>
          <a:bodyPr wrap="square" lIns="0" tIns="127000" rIns="127000" bIns="0" rtlCol="0" anchor="ctr"/>
          <a:lstStyle/>
          <a:p>
            <a:pPr algn="l" indent="0" marL="0">
              <a:buNone/>
            </a:pPr>
            <a:r>
              <a:rPr lang="en-US" sz="1300" b="1" dirty="0">
                <a:solidFill>
                  <a:schemeClr val="tx1"/>
                </a:solidFill>
              </a:rPr>
              <a:t>Shared by every layer: </a:t>
            </a:r>
            <a:pPr algn="l" indent="0" marL="0">
              <a:buNone/>
            </a:pPr>
            <a:r>
              <a:rPr lang="en-US" sz="1300" dirty="0">
                <a:solidFill>
                  <a:schemeClr val="tx1"/>
                </a:solidFill>
              </a:rPr>
              <a:t>config/aegis.yaml · aegis/risk.py (one risk formula) · aegis/geo.py (40-zone grid, Haversine) · Docker Compose (8 services)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Live path: one reading from sensor to screen</a:t>
            </a:r>
            <a:endParaRPr lang="en-US" sz="3200" dirty="0"/>
          </a:p>
        </p:txBody>
      </p:sp>
      <p:sp>
        <p:nvSpPr>
          <p:cNvPr id="3" name="card 1"/>
          <p:cNvSpPr/>
          <p:nvPr/>
        </p:nvSpPr>
        <p:spPr>
          <a:xfrm>
            <a:off x="457200" y="1325880"/>
            <a:ext cx="2510714" cy="1783080"/>
          </a:xfrm>
          <a:prstGeom prst="roundRect">
            <a:avLst>
              <a:gd name="adj" fmla="val 5128"/>
            </a:avLst>
          </a:prstGeom>
          <a:solidFill>
            <a:schemeClr val="accent1">
              <a:alpha val="10000"/>
            </a:schemeClr>
          </a:solidFill>
          <a:ln w="12700">
            <a:solidFill>
              <a:schemeClr val="accent1"/>
            </a:solidFill>
            <a:prstDash val="solid"/>
          </a:ln>
        </p:spPr>
      </p:sp>
      <p:sp>
        <p:nvSpPr>
          <p:cNvPr id="4" name="step 1"/>
          <p:cNvSpPr txBox="1"/>
          <p:nvPr/>
        </p:nvSpPr>
        <p:spPr>
          <a:xfrm>
            <a:off x="621792" y="15087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188720" y="15087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Simulator emits</a:t>
            </a:r>
            <a:endParaRPr lang="en-US" sz="1600" dirty="0"/>
          </a:p>
        </p:txBody>
      </p:sp>
      <p:sp>
        <p:nvSpPr>
          <p:cNvPr id="6" name="Text 4"/>
          <p:cNvSpPr txBox="1"/>
          <p:nvPr/>
        </p:nvSpPr>
        <p:spPr>
          <a:xfrm>
            <a:off x="621792" y="2103120"/>
            <a:ext cx="2181530" cy="868680"/>
          </a:xfrm>
          <a:prstGeom prst="rect">
            <a:avLst/>
          </a:prstGeom>
          <a:noFill/>
          <a:ln/>
        </p:spPr>
        <p:txBody>
          <a:bodyPr wrap="square" lIns="0" tIns="0" rIns="0" bIns="0" rtlCol="0" anchor="t"/>
          <a:lstStyle/>
          <a:p>
            <a:pPr indent="0" marL="0">
              <a:buNone/>
            </a:pPr>
            <a:r>
              <a:rPr lang="en-US" sz="1300" dirty="0">
                <a:solidFill>
                  <a:schemeClr val="tx1"/>
                </a:solidFill>
              </a:rPr>
              <a:t>station WXM-02, wx-metric-1 JSON, time stamped in IST</a:t>
            </a:r>
            <a:endParaRPr lang="en-US" sz="1300" dirty="0"/>
          </a:p>
        </p:txBody>
      </p:sp>
      <p:sp>
        <p:nvSpPr>
          <p:cNvPr id="7" name="Shape 5"/>
          <p:cNvSpPr/>
          <p:nvPr/>
        </p:nvSpPr>
        <p:spPr>
          <a:xfrm>
            <a:off x="3022778" y="2217420"/>
            <a:ext cx="301752" cy="0"/>
          </a:xfrm>
          <a:prstGeom prst="line">
            <a:avLst/>
          </a:prstGeom>
          <a:noFill/>
          <a:ln w="25400">
            <a:solidFill>
              <a:schemeClr val="tx2"/>
            </a:solidFill>
            <a:prstDash val="solid"/>
            <a:tailEnd type="triangle"/>
          </a:ln>
        </p:spPr>
      </p:sp>
      <p:sp>
        <p:nvSpPr>
          <p:cNvPr id="8" name="card 2"/>
          <p:cNvSpPr/>
          <p:nvPr/>
        </p:nvSpPr>
        <p:spPr>
          <a:xfrm>
            <a:off x="3379394" y="1325880"/>
            <a:ext cx="2510714" cy="1783080"/>
          </a:xfrm>
          <a:prstGeom prst="roundRect">
            <a:avLst>
              <a:gd name="adj" fmla="val 5128"/>
            </a:avLst>
          </a:prstGeom>
          <a:solidFill>
            <a:schemeClr val="accent2">
              <a:alpha val="10000"/>
            </a:schemeClr>
          </a:solidFill>
          <a:ln w="12700">
            <a:solidFill>
              <a:schemeClr val="accent2"/>
            </a:solidFill>
            <a:prstDash val="solid"/>
          </a:ln>
        </p:spPr>
      </p:sp>
      <p:sp>
        <p:nvSpPr>
          <p:cNvPr id="9" name="step 2"/>
          <p:cNvSpPr txBox="1"/>
          <p:nvPr/>
        </p:nvSpPr>
        <p:spPr>
          <a:xfrm>
            <a:off x="3543986" y="150876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4110914" y="15087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Kafka</a:t>
            </a:r>
            <a:endParaRPr lang="en-US" sz="1600" dirty="0"/>
          </a:p>
        </p:txBody>
      </p:sp>
      <p:sp>
        <p:nvSpPr>
          <p:cNvPr id="11" name="Text 9"/>
          <p:cNvSpPr txBox="1"/>
          <p:nvPr/>
        </p:nvSpPr>
        <p:spPr>
          <a:xfrm>
            <a:off x="3543986" y="2103120"/>
            <a:ext cx="2181530" cy="868680"/>
          </a:xfrm>
          <a:prstGeom prst="rect">
            <a:avLst/>
          </a:prstGeom>
          <a:noFill/>
          <a:ln/>
        </p:spPr>
        <p:txBody>
          <a:bodyPr wrap="square" lIns="0" tIns="0" rIns="0" bIns="0" rtlCol="0" anchor="t"/>
          <a:lstStyle/>
          <a:p>
            <a:pPr indent="0" marL="0">
              <a:buNone/>
            </a:pPr>
            <a:r>
              <a:rPr lang="en-US" sz="1300" dirty="0">
                <a:solidFill>
                  <a:schemeClr val="tx1"/>
                </a:solidFill>
              </a:rPr>
              <a:t>topic weather-events, key WXM-02, acks=all, 3 partitions</a:t>
            </a:r>
            <a:endParaRPr lang="en-US" sz="1300" dirty="0"/>
          </a:p>
        </p:txBody>
      </p:sp>
      <p:sp>
        <p:nvSpPr>
          <p:cNvPr id="12" name="Shape 10"/>
          <p:cNvSpPr/>
          <p:nvPr/>
        </p:nvSpPr>
        <p:spPr>
          <a:xfrm>
            <a:off x="5944972" y="2217420"/>
            <a:ext cx="301752" cy="0"/>
          </a:xfrm>
          <a:prstGeom prst="line">
            <a:avLst/>
          </a:prstGeom>
          <a:noFill/>
          <a:ln w="25400">
            <a:solidFill>
              <a:schemeClr val="tx2"/>
            </a:solidFill>
            <a:prstDash val="solid"/>
            <a:tailEnd type="triangle"/>
          </a:ln>
        </p:spPr>
      </p:sp>
      <p:sp>
        <p:nvSpPr>
          <p:cNvPr id="13" name="card 3"/>
          <p:cNvSpPr/>
          <p:nvPr/>
        </p:nvSpPr>
        <p:spPr>
          <a:xfrm>
            <a:off x="6301588" y="1325880"/>
            <a:ext cx="2510714" cy="1783080"/>
          </a:xfrm>
          <a:prstGeom prst="roundRect">
            <a:avLst>
              <a:gd name="adj" fmla="val 5128"/>
            </a:avLst>
          </a:prstGeom>
          <a:solidFill>
            <a:schemeClr val="accent3">
              <a:alpha val="10000"/>
            </a:schemeClr>
          </a:solidFill>
          <a:ln w="12700">
            <a:solidFill>
              <a:schemeClr val="accent3"/>
            </a:solidFill>
            <a:prstDash val="solid"/>
          </a:ln>
        </p:spPr>
      </p:sp>
      <p:sp>
        <p:nvSpPr>
          <p:cNvPr id="14" name="step 3"/>
          <p:cNvSpPr txBox="1"/>
          <p:nvPr/>
        </p:nvSpPr>
        <p:spPr>
          <a:xfrm>
            <a:off x="6466180" y="1508760"/>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3"/>
          <p:cNvSpPr txBox="1"/>
          <p:nvPr/>
        </p:nvSpPr>
        <p:spPr>
          <a:xfrm>
            <a:off x="7033108" y="15087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bronze_dq query</a:t>
            </a:r>
            <a:endParaRPr lang="en-US" sz="1600" dirty="0"/>
          </a:p>
        </p:txBody>
      </p:sp>
      <p:sp>
        <p:nvSpPr>
          <p:cNvPr id="16" name="Text 14"/>
          <p:cNvSpPr txBox="1"/>
          <p:nvPr/>
        </p:nvSpPr>
        <p:spPr>
          <a:xfrm>
            <a:off x="6466180" y="2103120"/>
            <a:ext cx="2181530" cy="868680"/>
          </a:xfrm>
          <a:prstGeom prst="rect">
            <a:avLst/>
          </a:prstGeom>
          <a:noFill/>
          <a:ln/>
        </p:spPr>
        <p:txBody>
          <a:bodyPr wrap="square" lIns="0" tIns="0" rIns="0" bIns="0" rtlCol="0" anchor="t"/>
          <a:lstStyle/>
          <a:p>
            <a:pPr indent="0" marL="0">
              <a:buNone/>
            </a:pPr>
            <a:r>
              <a:rPr lang="en-US" sz="1300" dirty="0">
                <a:solidFill>
                  <a:schemeClr val="tx1"/>
                </a:solidFill>
              </a:rPr>
              <a:t>archive raw, validate (12 rejection codes), quarantine, DQ metrics</a:t>
            </a:r>
            <a:endParaRPr lang="en-US" sz="1300" dirty="0"/>
          </a:p>
        </p:txBody>
      </p:sp>
      <p:sp>
        <p:nvSpPr>
          <p:cNvPr id="17" name="Shape 15"/>
          <p:cNvSpPr/>
          <p:nvPr/>
        </p:nvSpPr>
        <p:spPr>
          <a:xfrm>
            <a:off x="8867165" y="2217420"/>
            <a:ext cx="301752" cy="0"/>
          </a:xfrm>
          <a:prstGeom prst="line">
            <a:avLst/>
          </a:prstGeom>
          <a:noFill/>
          <a:ln w="25400">
            <a:solidFill>
              <a:schemeClr val="tx2"/>
            </a:solidFill>
            <a:prstDash val="solid"/>
            <a:tailEnd type="triangle"/>
          </a:ln>
        </p:spPr>
      </p:sp>
      <p:sp>
        <p:nvSpPr>
          <p:cNvPr id="18" name="card 4"/>
          <p:cNvSpPr/>
          <p:nvPr/>
        </p:nvSpPr>
        <p:spPr>
          <a:xfrm>
            <a:off x="9223781" y="1325880"/>
            <a:ext cx="2510714" cy="1783080"/>
          </a:xfrm>
          <a:prstGeom prst="roundRect">
            <a:avLst>
              <a:gd name="adj" fmla="val 5128"/>
            </a:avLst>
          </a:prstGeom>
          <a:solidFill>
            <a:schemeClr val="accent3">
              <a:alpha val="10000"/>
            </a:schemeClr>
          </a:solidFill>
          <a:ln w="12700">
            <a:solidFill>
              <a:schemeClr val="accent3"/>
            </a:solidFill>
            <a:prstDash val="solid"/>
          </a:ln>
        </p:spPr>
      </p:sp>
      <p:sp>
        <p:nvSpPr>
          <p:cNvPr id="19" name="step 4"/>
          <p:cNvSpPr txBox="1"/>
          <p:nvPr/>
        </p:nvSpPr>
        <p:spPr>
          <a:xfrm>
            <a:off x="9388373" y="1508760"/>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 18"/>
          <p:cNvSpPr txBox="1"/>
          <p:nvPr/>
        </p:nvSpPr>
        <p:spPr>
          <a:xfrm>
            <a:off x="9955301" y="15087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silver query</a:t>
            </a:r>
            <a:endParaRPr lang="en-US" sz="1600" dirty="0"/>
          </a:p>
        </p:txBody>
      </p:sp>
      <p:sp>
        <p:nvSpPr>
          <p:cNvPr id="21" name="Text 19"/>
          <p:cNvSpPr txBox="1"/>
          <p:nvPr/>
        </p:nvSpPr>
        <p:spPr>
          <a:xfrm>
            <a:off x="9388373" y="2103120"/>
            <a:ext cx="2181530" cy="868680"/>
          </a:xfrm>
          <a:prstGeom prst="rect">
            <a:avLst/>
          </a:prstGeom>
          <a:noFill/>
          <a:ln/>
        </p:spPr>
        <p:txBody>
          <a:bodyPr wrap="square" lIns="0" tIns="0" rIns="0" bIns="0" rtlCol="0" anchor="t"/>
          <a:lstStyle/>
          <a:p>
            <a:pPr indent="0" marL="0">
              <a:buNone/>
            </a:pPr>
            <a:r>
              <a:rPr lang="en-US" sz="1300" dirty="0">
                <a:solidFill>
                  <a:schemeClr val="tx1"/>
                </a:solidFill>
              </a:rPr>
              <a:t>watermark 10 min, de-duplicate event_id, HBase sensor_observations</a:t>
            </a:r>
            <a:endParaRPr lang="en-US" sz="1300" dirty="0"/>
          </a:p>
        </p:txBody>
      </p:sp>
      <p:sp>
        <p:nvSpPr>
          <p:cNvPr id="22" name="card 5"/>
          <p:cNvSpPr/>
          <p:nvPr/>
        </p:nvSpPr>
        <p:spPr>
          <a:xfrm>
            <a:off x="457200" y="3840480"/>
            <a:ext cx="2510714" cy="1783080"/>
          </a:xfrm>
          <a:prstGeom prst="roundRect">
            <a:avLst>
              <a:gd name="adj" fmla="val 5128"/>
            </a:avLst>
          </a:prstGeom>
          <a:solidFill>
            <a:schemeClr val="accent3">
              <a:alpha val="10000"/>
            </a:schemeClr>
          </a:solidFill>
          <a:ln w="12700">
            <a:solidFill>
              <a:schemeClr val="accent3"/>
            </a:solidFill>
            <a:prstDash val="solid"/>
          </a:ln>
        </p:spPr>
      </p:sp>
      <p:sp>
        <p:nvSpPr>
          <p:cNvPr id="23" name="step 5"/>
          <p:cNvSpPr txBox="1"/>
          <p:nvPr/>
        </p:nvSpPr>
        <p:spPr>
          <a:xfrm>
            <a:off x="621792" y="4023360"/>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2"/>
          <p:cNvSpPr txBox="1"/>
          <p:nvPr/>
        </p:nvSpPr>
        <p:spPr>
          <a:xfrm>
            <a:off x="1188720" y="40233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zone_risk query</a:t>
            </a:r>
            <a:endParaRPr lang="en-US" sz="1600" dirty="0"/>
          </a:p>
        </p:txBody>
      </p:sp>
      <p:sp>
        <p:nvSpPr>
          <p:cNvPr id="25" name="Text 23"/>
          <p:cNvSpPr txBox="1"/>
          <p:nvPr/>
        </p:nvSpPr>
        <p:spPr>
          <a:xfrm>
            <a:off x="621792" y="4617720"/>
            <a:ext cx="2181530" cy="868680"/>
          </a:xfrm>
          <a:prstGeom prst="rect">
            <a:avLst/>
          </a:prstGeom>
          <a:noFill/>
          <a:ln/>
        </p:spPr>
        <p:txBody>
          <a:bodyPr wrap="square" lIns="0" tIns="0" rIns="0" bIns="0" rtlCol="0" anchor="t"/>
          <a:lstStyle/>
          <a:p>
            <a:pPr indent="0" marL="0">
              <a:buNone/>
            </a:pPr>
            <a:r>
              <a:rPr lang="en-US" sz="1300" dirty="0">
                <a:solidFill>
                  <a:schemeClr val="tx1"/>
                </a:solidFill>
              </a:rPr>
              <a:t>WXM-02 feeds zones Z‑R04‑C02, C03 and C04; 5-min window; risk formula</a:t>
            </a:r>
            <a:endParaRPr lang="en-US" sz="1300" dirty="0"/>
          </a:p>
        </p:txBody>
      </p:sp>
      <p:sp>
        <p:nvSpPr>
          <p:cNvPr id="26" name="Shape 24"/>
          <p:cNvSpPr/>
          <p:nvPr/>
        </p:nvSpPr>
        <p:spPr>
          <a:xfrm>
            <a:off x="3022778" y="4732020"/>
            <a:ext cx="301752" cy="0"/>
          </a:xfrm>
          <a:prstGeom prst="line">
            <a:avLst/>
          </a:prstGeom>
          <a:noFill/>
          <a:ln w="25400">
            <a:solidFill>
              <a:schemeClr val="tx2"/>
            </a:solidFill>
            <a:prstDash val="solid"/>
            <a:tailEnd type="triangle"/>
          </a:ln>
        </p:spPr>
      </p:sp>
      <p:sp>
        <p:nvSpPr>
          <p:cNvPr id="27" name="card 6"/>
          <p:cNvSpPr/>
          <p:nvPr/>
        </p:nvSpPr>
        <p:spPr>
          <a:xfrm>
            <a:off x="3379394" y="3840480"/>
            <a:ext cx="2510714" cy="1783080"/>
          </a:xfrm>
          <a:prstGeom prst="roundRect">
            <a:avLst>
              <a:gd name="adj" fmla="val 5128"/>
            </a:avLst>
          </a:prstGeom>
          <a:solidFill>
            <a:schemeClr val="accent4">
              <a:alpha val="10000"/>
            </a:schemeClr>
          </a:solidFill>
          <a:ln w="12700">
            <a:solidFill>
              <a:schemeClr val="accent4"/>
            </a:solidFill>
            <a:prstDash val="solid"/>
          </a:ln>
        </p:spPr>
      </p:sp>
      <p:sp>
        <p:nvSpPr>
          <p:cNvPr id="28" name="step 6"/>
          <p:cNvSpPr txBox="1"/>
          <p:nvPr/>
        </p:nvSpPr>
        <p:spPr>
          <a:xfrm>
            <a:off x="3543986" y="4023360"/>
            <a:ext cx="457200" cy="45720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9" name="Text 27"/>
          <p:cNvSpPr txBox="1"/>
          <p:nvPr/>
        </p:nvSpPr>
        <p:spPr>
          <a:xfrm>
            <a:off x="4110914" y="40233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Results stored</a:t>
            </a:r>
            <a:endParaRPr lang="en-US" sz="1600" dirty="0"/>
          </a:p>
        </p:txBody>
      </p:sp>
      <p:sp>
        <p:nvSpPr>
          <p:cNvPr id="30" name="Text 28"/>
          <p:cNvSpPr txBox="1"/>
          <p:nvPr/>
        </p:nvSpPr>
        <p:spPr>
          <a:xfrm>
            <a:off x="3543986" y="4617720"/>
            <a:ext cx="2181530" cy="868680"/>
          </a:xfrm>
          <a:prstGeom prst="rect">
            <a:avLst/>
          </a:prstGeom>
          <a:noFill/>
          <a:ln/>
        </p:spPr>
        <p:txBody>
          <a:bodyPr wrap="square" lIns="0" tIns="0" rIns="0" bIns="0" rtlCol="0" anchor="t"/>
          <a:lstStyle/>
          <a:p>
            <a:pPr indent="0" marL="0">
              <a:buNone/>
            </a:pPr>
            <a:r>
              <a:rPr lang="en-US" sz="1300" dirty="0">
                <a:solidFill>
                  <a:schemeClr val="tx1"/>
                </a:solidFill>
              </a:rPr>
              <a:t>HBase zone_risk_history, Parquet live/zone_risk, topic zone-risk-updates</a:t>
            </a:r>
            <a:endParaRPr lang="en-US" sz="1300" dirty="0"/>
          </a:p>
        </p:txBody>
      </p:sp>
      <p:sp>
        <p:nvSpPr>
          <p:cNvPr id="31" name="Shape 29"/>
          <p:cNvSpPr/>
          <p:nvPr/>
        </p:nvSpPr>
        <p:spPr>
          <a:xfrm>
            <a:off x="5944972" y="4732020"/>
            <a:ext cx="301752" cy="0"/>
          </a:xfrm>
          <a:prstGeom prst="line">
            <a:avLst/>
          </a:prstGeom>
          <a:noFill/>
          <a:ln w="25400">
            <a:solidFill>
              <a:schemeClr val="tx2"/>
            </a:solidFill>
            <a:prstDash val="solid"/>
            <a:tailEnd type="triangle"/>
          </a:ln>
        </p:spPr>
      </p:sp>
      <p:sp>
        <p:nvSpPr>
          <p:cNvPr id="32" name="card 7"/>
          <p:cNvSpPr/>
          <p:nvPr/>
        </p:nvSpPr>
        <p:spPr>
          <a:xfrm>
            <a:off x="6301588" y="3840480"/>
            <a:ext cx="2510714" cy="1783080"/>
          </a:xfrm>
          <a:prstGeom prst="roundRect">
            <a:avLst>
              <a:gd name="adj" fmla="val 5128"/>
            </a:avLst>
          </a:prstGeom>
          <a:solidFill>
            <a:schemeClr val="accent5">
              <a:alpha val="10000"/>
            </a:schemeClr>
          </a:solidFill>
          <a:ln w="12700">
            <a:solidFill>
              <a:schemeClr val="accent5"/>
            </a:solidFill>
            <a:prstDash val="solid"/>
          </a:ln>
        </p:spPr>
      </p:sp>
      <p:sp>
        <p:nvSpPr>
          <p:cNvPr id="33" name="step 7"/>
          <p:cNvSpPr txBox="1"/>
          <p:nvPr/>
        </p:nvSpPr>
        <p:spPr>
          <a:xfrm>
            <a:off x="6466180" y="4023360"/>
            <a:ext cx="457200" cy="457200"/>
          </a:xfrm>
          <a:prstGeom prst="ellipse">
            <a:avLst/>
          </a:prstGeom>
          <a:solidFill>
            <a:schemeClr val="accent5"/>
          </a:solidFill>
          <a:ln>
            <a:solidFill>
              <a:schemeClr val="accent5"/>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34" name="Text 32"/>
          <p:cNvSpPr txBox="1"/>
          <p:nvPr/>
        </p:nvSpPr>
        <p:spPr>
          <a:xfrm>
            <a:off x="7033108" y="40233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FastAPI</a:t>
            </a:r>
            <a:endParaRPr lang="en-US" sz="1600" dirty="0"/>
          </a:p>
        </p:txBody>
      </p:sp>
      <p:sp>
        <p:nvSpPr>
          <p:cNvPr id="35" name="Text 33"/>
          <p:cNvSpPr txBox="1"/>
          <p:nvPr/>
        </p:nvSpPr>
        <p:spPr>
          <a:xfrm>
            <a:off x="6466180" y="4617720"/>
            <a:ext cx="2181530" cy="868680"/>
          </a:xfrm>
          <a:prstGeom prst="rect">
            <a:avLst/>
          </a:prstGeom>
          <a:noFill/>
          <a:ln/>
        </p:spPr>
        <p:txBody>
          <a:bodyPr wrap="square" lIns="0" tIns="0" rIns="0" bIns="0" rtlCol="0" anchor="t"/>
          <a:lstStyle/>
          <a:p>
            <a:pPr indent="0" marL="0">
              <a:buNone/>
            </a:pPr>
            <a:r>
              <a:rPr lang="en-US" sz="1300" dirty="0">
                <a:solidFill>
                  <a:schemeClr val="tx1"/>
                </a:solidFill>
              </a:rPr>
              <a:t>live-feed consumer → SSE event; GET /api/zones reads HBase</a:t>
            </a:r>
            <a:endParaRPr lang="en-US" sz="1300" dirty="0"/>
          </a:p>
        </p:txBody>
      </p:sp>
      <p:sp>
        <p:nvSpPr>
          <p:cNvPr id="36" name="Shape 34"/>
          <p:cNvSpPr/>
          <p:nvPr/>
        </p:nvSpPr>
        <p:spPr>
          <a:xfrm>
            <a:off x="8867165" y="4732020"/>
            <a:ext cx="301752" cy="0"/>
          </a:xfrm>
          <a:prstGeom prst="line">
            <a:avLst/>
          </a:prstGeom>
          <a:noFill/>
          <a:ln w="25400">
            <a:solidFill>
              <a:schemeClr val="tx2"/>
            </a:solidFill>
            <a:prstDash val="solid"/>
            <a:tailEnd type="triangle"/>
          </a:ln>
        </p:spPr>
      </p:sp>
      <p:sp>
        <p:nvSpPr>
          <p:cNvPr id="37" name="card 8"/>
          <p:cNvSpPr/>
          <p:nvPr/>
        </p:nvSpPr>
        <p:spPr>
          <a:xfrm>
            <a:off x="9223781" y="3840480"/>
            <a:ext cx="2510714" cy="1783080"/>
          </a:xfrm>
          <a:prstGeom prst="roundRect">
            <a:avLst>
              <a:gd name="adj" fmla="val 5128"/>
            </a:avLst>
          </a:prstGeom>
          <a:solidFill>
            <a:schemeClr val="accent6">
              <a:alpha val="10000"/>
            </a:schemeClr>
          </a:solidFill>
          <a:ln w="12700">
            <a:solidFill>
              <a:schemeClr val="accent6"/>
            </a:solidFill>
            <a:prstDash val="solid"/>
          </a:ln>
        </p:spPr>
      </p:sp>
      <p:sp>
        <p:nvSpPr>
          <p:cNvPr id="38" name="step 8"/>
          <p:cNvSpPr txBox="1"/>
          <p:nvPr/>
        </p:nvSpPr>
        <p:spPr>
          <a:xfrm>
            <a:off x="9388373" y="4023360"/>
            <a:ext cx="457200" cy="45720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39" name="Text 37"/>
          <p:cNvSpPr txBox="1"/>
          <p:nvPr/>
        </p:nvSpPr>
        <p:spPr>
          <a:xfrm>
            <a:off x="9955301" y="4023360"/>
            <a:ext cx="1642034" cy="457200"/>
          </a:xfrm>
          <a:prstGeom prst="rect">
            <a:avLst/>
          </a:prstGeom>
          <a:noFill/>
          <a:ln/>
        </p:spPr>
        <p:txBody>
          <a:bodyPr wrap="square" lIns="0" tIns="0" rIns="0" bIns="0" rtlCol="0" anchor="ctr"/>
          <a:lstStyle/>
          <a:p>
            <a:pPr indent="0" marL="0">
              <a:buNone/>
            </a:pPr>
            <a:r>
              <a:rPr lang="en-US" sz="1600" b="1" dirty="0">
                <a:solidFill>
                  <a:schemeClr val="tx1"/>
                </a:solidFill>
              </a:rPr>
              <a:t>Dashboard</a:t>
            </a:r>
            <a:endParaRPr lang="en-US" sz="1600" dirty="0"/>
          </a:p>
        </p:txBody>
      </p:sp>
      <p:sp>
        <p:nvSpPr>
          <p:cNvPr id="40" name="Text 38"/>
          <p:cNvSpPr txBox="1"/>
          <p:nvPr/>
        </p:nvSpPr>
        <p:spPr>
          <a:xfrm>
            <a:off x="9388373" y="4617720"/>
            <a:ext cx="2181530" cy="868680"/>
          </a:xfrm>
          <a:prstGeom prst="rect">
            <a:avLst/>
          </a:prstGeom>
          <a:noFill/>
          <a:ln/>
        </p:spPr>
        <p:txBody>
          <a:bodyPr wrap="square" lIns="0" tIns="0" rIns="0" bIns="0" rtlCol="0" anchor="t"/>
          <a:lstStyle/>
          <a:p>
            <a:pPr indent="0" marL="0">
              <a:buNone/>
            </a:pPr>
            <a:r>
              <a:rPr lang="en-US" sz="1300" dirty="0">
                <a:solidFill>
                  <a:schemeClr val="tx1"/>
                </a:solidFill>
              </a:rPr>
              <a:t>zone recoloured, score explained, alert if High or Critical</a:t>
            </a:r>
            <a:endParaRPr lang="en-US" sz="1300" dirty="0"/>
          </a:p>
        </p:txBody>
      </p:sp>
      <p:sp>
        <p:nvSpPr>
          <p:cNvPr id="41" name="Shape 39"/>
          <p:cNvSpPr/>
          <p:nvPr/>
        </p:nvSpPr>
        <p:spPr>
          <a:xfrm>
            <a:off x="10479138" y="3145536"/>
            <a:ext cx="0" cy="329184"/>
          </a:xfrm>
          <a:prstGeom prst="line">
            <a:avLst/>
          </a:prstGeom>
          <a:noFill/>
          <a:ln w="25400">
            <a:solidFill>
              <a:schemeClr val="tx2"/>
            </a:solidFill>
            <a:prstDash val="solid"/>
          </a:ln>
        </p:spPr>
      </p:sp>
      <p:sp>
        <p:nvSpPr>
          <p:cNvPr id="42" name="Shape 40"/>
          <p:cNvSpPr/>
          <p:nvPr/>
        </p:nvSpPr>
        <p:spPr>
          <a:xfrm flipH="1">
            <a:off x="1712557" y="3474720"/>
            <a:ext cx="8766581" cy="0"/>
          </a:xfrm>
          <a:prstGeom prst="line">
            <a:avLst/>
          </a:prstGeom>
          <a:noFill/>
          <a:ln w="25400">
            <a:solidFill>
              <a:schemeClr val="tx2"/>
            </a:solidFill>
            <a:prstDash val="solid"/>
          </a:ln>
        </p:spPr>
      </p:sp>
      <p:sp>
        <p:nvSpPr>
          <p:cNvPr id="43" name="Shape 41"/>
          <p:cNvSpPr/>
          <p:nvPr/>
        </p:nvSpPr>
        <p:spPr>
          <a:xfrm>
            <a:off x="1712557" y="3474720"/>
            <a:ext cx="0" cy="329184"/>
          </a:xfrm>
          <a:prstGeom prst="line">
            <a:avLst/>
          </a:prstGeom>
          <a:noFill/>
          <a:ln w="25400">
            <a:solidFill>
              <a:schemeClr val="tx2"/>
            </a:solidFill>
            <a:prstDash val="solid"/>
            <a:tailEnd type="triangle"/>
          </a:ln>
        </p:spPr>
      </p:sp>
      <p:sp>
        <p:nvSpPr>
          <p:cNvPr id="44" name="Text 42"/>
          <p:cNvSpPr txBox="1"/>
          <p:nvPr/>
        </p:nvSpPr>
        <p:spPr>
          <a:xfrm>
            <a:off x="457200" y="5760720"/>
            <a:ext cx="11277295" cy="457200"/>
          </a:xfrm>
          <a:prstGeom prst="rect">
            <a:avLst/>
          </a:prstGeom>
          <a:noFill/>
          <a:ln/>
        </p:spPr>
        <p:txBody>
          <a:bodyPr wrap="square" lIns="0" tIns="0" rIns="0" bIns="0" rtlCol="0" anchor="ctr"/>
          <a:lstStyle/>
          <a:p>
            <a:pPr indent="0" marL="0">
              <a:buNone/>
            </a:pPr>
            <a:r>
              <a:rPr lang="en-US" sz="1300" i="1" dirty="0">
                <a:solidFill>
                  <a:schemeClr val="tx2"/>
                </a:solidFill>
              </a:rPr>
              <a:t>Micro-batch every 10 s · late events beyond the watermark are still archived in bronze · a zone is shown as live only if its window ended less than 15 minutes ago</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Batch layer and ML workflow</a:t>
            </a:r>
            <a:endParaRPr lang="en-US" sz="3200" dirty="0"/>
          </a:p>
        </p:txBody>
      </p:sp>
      <p:sp>
        <p:nvSpPr>
          <p:cNvPr id="3" name="Text 1"/>
          <p:cNvSpPr txBox="1"/>
          <p:nvPr/>
        </p:nvSpPr>
        <p:spPr>
          <a:xfrm>
            <a:off x="457200" y="1188720"/>
            <a:ext cx="5394960" cy="365760"/>
          </a:xfrm>
          <a:prstGeom prst="rect">
            <a:avLst/>
          </a:prstGeom>
          <a:noFill/>
          <a:ln/>
        </p:spPr>
        <p:txBody>
          <a:bodyPr wrap="square" lIns="0" tIns="0" rIns="0" bIns="0" rtlCol="0" anchor="ctr"/>
          <a:lstStyle/>
          <a:p>
            <a:pPr indent="0" marL="0">
              <a:buNone/>
            </a:pPr>
            <a:r>
              <a:rPr lang="en-US" sz="1600" b="1" dirty="0">
                <a:solidFill>
                  <a:schemeClr val="accent3"/>
                </a:solidFill>
              </a:rPr>
              <a:t>Batch ETL · spark_jobs/etl_pipeline.py</a:t>
            </a:r>
            <a:endParaRPr lang="en-US" sz="1600" dirty="0"/>
          </a:p>
        </p:txBody>
      </p:sp>
      <p:sp>
        <p:nvSpPr>
          <p:cNvPr id="4" name="Bronze"/>
          <p:cNvSpPr txBox="1"/>
          <p:nvPr/>
        </p:nvSpPr>
        <p:spPr>
          <a:xfrm>
            <a:off x="457200" y="1645920"/>
            <a:ext cx="5394960" cy="676656"/>
          </a:xfrm>
          <a:prstGeom prst="roundRect">
            <a:avLst>
              <a:gd name="adj" fmla="val 10811"/>
            </a:avLst>
          </a:prstGeom>
          <a:solidFill>
            <a:schemeClr val="accent2">
              <a:alpha val="8000"/>
            </a:schemeClr>
          </a:solidFill>
          <a:ln w="15875">
            <a:solidFill>
              <a:schemeClr val="accent2"/>
            </a:solidFill>
          </a:ln>
        </p:spPr>
        <p:txBody>
          <a:bodyPr wrap="square" lIns="50800" tIns="76200" rIns="76200" bIns="50800" rtlCol="0" anchor="ctr"/>
          <a:lstStyle/>
          <a:p>
            <a:pPr algn="l" indent="0" marL="0">
              <a:buNone/>
            </a:pPr>
            <a:r>
              <a:rPr lang="en-US" sz="1400" b="1" dirty="0">
                <a:solidFill>
                  <a:schemeClr val="tx1"/>
                </a:solidFill>
              </a:rPr>
              <a:t>Bronze</a:t>
            </a:r>
            <a:endParaRPr lang="en-US" sz="1400" dirty="0"/>
          </a:p>
          <a:p>
            <a:pPr algn="l" indent="0" marL="0">
              <a:buNone/>
            </a:pPr>
            <a:r>
              <a:rPr lang="en-US" sz="1200" dirty="0">
                <a:solidFill>
                  <a:schemeClr val="tx1"/>
                </a:solidFill>
              </a:rPr>
              <a:t>raw lines exactly as received</a:t>
            </a:r>
            <a:endParaRPr lang="en-US" sz="1400" dirty="0"/>
          </a:p>
        </p:txBody>
      </p:sp>
      <p:sp>
        <p:nvSpPr>
          <p:cNvPr id="5" name="Shape 3"/>
          <p:cNvSpPr/>
          <p:nvPr/>
        </p:nvSpPr>
        <p:spPr>
          <a:xfrm>
            <a:off x="3154680" y="2350008"/>
            <a:ext cx="0" cy="164592"/>
          </a:xfrm>
          <a:prstGeom prst="line">
            <a:avLst/>
          </a:prstGeom>
          <a:noFill/>
          <a:ln w="25400">
            <a:solidFill>
              <a:schemeClr val="tx2"/>
            </a:solidFill>
            <a:prstDash val="solid"/>
            <a:tailEnd type="triangle"/>
          </a:ln>
        </p:spPr>
      </p:sp>
      <p:sp>
        <p:nvSpPr>
          <p:cNvPr id="6" name="Validate and map"/>
          <p:cNvSpPr txBox="1"/>
          <p:nvPr/>
        </p:nvSpPr>
        <p:spPr>
          <a:xfrm>
            <a:off x="457200" y="2542032"/>
            <a:ext cx="5394960" cy="676656"/>
          </a:xfrm>
          <a:prstGeom prst="roundRect">
            <a:avLst>
              <a:gd name="adj" fmla="val 10811"/>
            </a:avLst>
          </a:prstGeom>
          <a:solidFill>
            <a:schemeClr val="accent3">
              <a:alpha val="8000"/>
            </a:schemeClr>
          </a:solidFill>
          <a:ln w="15875">
            <a:solidFill>
              <a:schemeClr val="accent3"/>
            </a:solidFill>
          </a:ln>
        </p:spPr>
        <p:txBody>
          <a:bodyPr wrap="square" lIns="50800" tIns="76200" rIns="76200" bIns="50800" rtlCol="0" anchor="ctr"/>
          <a:lstStyle/>
          <a:p>
            <a:pPr algn="l" indent="0" marL="0">
              <a:buNone/>
            </a:pPr>
            <a:r>
              <a:rPr lang="en-US" sz="1400" b="1" dirty="0">
                <a:solidFill>
                  <a:schemeClr val="tx1"/>
                </a:solidFill>
              </a:rPr>
              <a:t>Validate and map</a:t>
            </a:r>
            <a:endParaRPr lang="en-US" sz="1400" dirty="0"/>
          </a:p>
          <a:p>
            <a:pPr algn="l" indent="0" marL="0">
              <a:buNone/>
            </a:pPr>
            <a:r>
              <a:rPr lang="en-US" sz="1200" dirty="0">
                <a:solidFill>
                  <a:schemeClr val="tx1"/>
                </a:solidFill>
              </a:rPr>
              <a:t>units, time zones, categories, zone id · 12 rejection codes → quarantine</a:t>
            </a:r>
            <a:endParaRPr lang="en-US" sz="1400" dirty="0"/>
          </a:p>
        </p:txBody>
      </p:sp>
      <p:sp>
        <p:nvSpPr>
          <p:cNvPr id="7" name="Shape 5"/>
          <p:cNvSpPr/>
          <p:nvPr/>
        </p:nvSpPr>
        <p:spPr>
          <a:xfrm>
            <a:off x="3154680" y="3246120"/>
            <a:ext cx="0" cy="164592"/>
          </a:xfrm>
          <a:prstGeom prst="line">
            <a:avLst/>
          </a:prstGeom>
          <a:noFill/>
          <a:ln w="25400">
            <a:solidFill>
              <a:schemeClr val="tx2"/>
            </a:solidFill>
            <a:prstDash val="solid"/>
            <a:tailEnd type="triangle"/>
          </a:ln>
        </p:spPr>
      </p:sp>
      <p:sp>
        <p:nvSpPr>
          <p:cNvPr id="8" name="Silver"/>
          <p:cNvSpPr txBox="1"/>
          <p:nvPr/>
        </p:nvSpPr>
        <p:spPr>
          <a:xfrm>
            <a:off x="457200" y="3438144"/>
            <a:ext cx="5394960" cy="676656"/>
          </a:xfrm>
          <a:prstGeom prst="roundRect">
            <a:avLst>
              <a:gd name="adj" fmla="val 10811"/>
            </a:avLst>
          </a:prstGeom>
          <a:solidFill>
            <a:schemeClr val="accent1">
              <a:alpha val="8000"/>
            </a:schemeClr>
          </a:solidFill>
          <a:ln w="15875">
            <a:solidFill>
              <a:schemeClr val="accent1"/>
            </a:solidFill>
          </a:ln>
        </p:spPr>
        <p:txBody>
          <a:bodyPr wrap="square" lIns="50800" tIns="76200" rIns="76200" bIns="50800" rtlCol="0" anchor="ctr"/>
          <a:lstStyle/>
          <a:p>
            <a:pPr algn="l" indent="0" marL="0">
              <a:buNone/>
            </a:pPr>
            <a:r>
              <a:rPr lang="en-US" sz="1400" b="1" dirty="0">
                <a:solidFill>
                  <a:schemeClr val="tx1"/>
                </a:solidFill>
              </a:rPr>
              <a:t>Silver</a:t>
            </a:r>
            <a:endParaRPr lang="en-US" sz="1400" dirty="0"/>
          </a:p>
          <a:p>
            <a:pPr algn="l" indent="0" marL="0">
              <a:buNone/>
            </a:pPr>
            <a:r>
              <a:rPr lang="en-US" sz="1200" dirty="0">
                <a:solidFill>
                  <a:schemeClr val="tx1"/>
                </a:solidFill>
              </a:rPr>
              <a:t>clean, de-duplicated, partitioned by date</a:t>
            </a:r>
            <a:endParaRPr lang="en-US" sz="1400" dirty="0"/>
          </a:p>
        </p:txBody>
      </p:sp>
      <p:sp>
        <p:nvSpPr>
          <p:cNvPr id="9" name="Shape 7"/>
          <p:cNvSpPr/>
          <p:nvPr/>
        </p:nvSpPr>
        <p:spPr>
          <a:xfrm>
            <a:off x="3154680" y="4142232"/>
            <a:ext cx="0" cy="164592"/>
          </a:xfrm>
          <a:prstGeom prst="line">
            <a:avLst/>
          </a:prstGeom>
          <a:noFill/>
          <a:ln w="25400">
            <a:solidFill>
              <a:schemeClr val="tx2"/>
            </a:solidFill>
            <a:prstDash val="solid"/>
            <a:tailEnd type="triangle"/>
          </a:ln>
        </p:spPr>
      </p:sp>
      <p:sp>
        <p:nvSpPr>
          <p:cNvPr id="10" name="Gold"/>
          <p:cNvSpPr txBox="1"/>
          <p:nvPr/>
        </p:nvSpPr>
        <p:spPr>
          <a:xfrm>
            <a:off x="457200" y="4334256"/>
            <a:ext cx="5394960" cy="676656"/>
          </a:xfrm>
          <a:prstGeom prst="roundRect">
            <a:avLst>
              <a:gd name="adj" fmla="val 10811"/>
            </a:avLst>
          </a:prstGeom>
          <a:solidFill>
            <a:schemeClr val="accent4">
              <a:alpha val="8000"/>
            </a:schemeClr>
          </a:solidFill>
          <a:ln w="15875">
            <a:solidFill>
              <a:schemeClr val="accent4"/>
            </a:solidFill>
          </a:ln>
        </p:spPr>
        <p:txBody>
          <a:bodyPr wrap="square" lIns="50800" tIns="76200" rIns="76200" bIns="50800" rtlCol="0" anchor="ctr"/>
          <a:lstStyle/>
          <a:p>
            <a:pPr algn="l" indent="0" marL="0">
              <a:buNone/>
            </a:pPr>
            <a:r>
              <a:rPr lang="en-US" sz="1400" b="1" dirty="0">
                <a:solidFill>
                  <a:schemeClr val="tx1"/>
                </a:solidFill>
              </a:rPr>
              <a:t>Gold</a:t>
            </a:r>
            <a:endParaRPr lang="en-US" sz="1400" dirty="0"/>
          </a:p>
          <a:p>
            <a:pPr algn="l" indent="0" marL="0">
              <a:buNone/>
            </a:pPr>
            <a:r>
              <a:rPr lang="en-US" sz="1200" dirty="0">
                <a:solidFill>
                  <a:schemeClr val="tx1"/>
                </a:solidFill>
              </a:rPr>
              <a:t>zone-hour risk, trends, correlations, ML training set</a:t>
            </a:r>
            <a:endParaRPr lang="en-US" sz="1400" dirty="0"/>
          </a:p>
        </p:txBody>
      </p:sp>
      <p:sp>
        <p:nvSpPr>
          <p:cNvPr id="11" name="Shape 9"/>
          <p:cNvSpPr/>
          <p:nvPr/>
        </p:nvSpPr>
        <p:spPr>
          <a:xfrm>
            <a:off x="3154680" y="5038344"/>
            <a:ext cx="0" cy="164592"/>
          </a:xfrm>
          <a:prstGeom prst="line">
            <a:avLst/>
          </a:prstGeom>
          <a:noFill/>
          <a:ln w="25400">
            <a:solidFill>
              <a:schemeClr val="tx2"/>
            </a:solidFill>
            <a:prstDash val="solid"/>
            <a:tailEnd type="triangle"/>
          </a:ln>
        </p:spPr>
      </p:sp>
      <p:sp>
        <p:nvSpPr>
          <p:cNvPr id="12" name="Data-quality report"/>
          <p:cNvSpPr txBox="1"/>
          <p:nvPr/>
        </p:nvSpPr>
        <p:spPr>
          <a:xfrm>
            <a:off x="457200" y="5230368"/>
            <a:ext cx="5394960" cy="676656"/>
          </a:xfrm>
          <a:prstGeom prst="roundRect">
            <a:avLst>
              <a:gd name="adj" fmla="val 10811"/>
            </a:avLst>
          </a:prstGeom>
          <a:solidFill>
            <a:schemeClr val="accent5">
              <a:alpha val="8000"/>
            </a:schemeClr>
          </a:solidFill>
          <a:ln w="15875">
            <a:solidFill>
              <a:schemeClr val="accent5"/>
            </a:solidFill>
          </a:ln>
        </p:spPr>
        <p:txBody>
          <a:bodyPr wrap="square" lIns="50800" tIns="76200" rIns="76200" bIns="50800" rtlCol="0" anchor="ctr"/>
          <a:lstStyle/>
          <a:p>
            <a:pPr algn="l" indent="0" marL="0">
              <a:buNone/>
            </a:pPr>
            <a:r>
              <a:rPr lang="en-US" sz="1400" b="1" dirty="0">
                <a:solidFill>
                  <a:schemeClr val="tx1"/>
                </a:solidFill>
              </a:rPr>
              <a:t>Data-quality report</a:t>
            </a:r>
            <a:endParaRPr lang="en-US" sz="1400" dirty="0"/>
          </a:p>
          <a:p>
            <a:pPr algn="l" indent="0" marL="0">
              <a:buNone/>
            </a:pPr>
            <a:r>
              <a:rPr lang="en-US" sz="1200" dirty="0">
                <a:solidFill>
                  <a:schemeClr val="tx1"/>
                </a:solidFill>
              </a:rPr>
              <a:t>records = valid + rejected · injected = detected</a:t>
            </a:r>
            <a:endParaRPr lang="en-US" sz="1400" dirty="0"/>
          </a:p>
        </p:txBody>
      </p:sp>
      <p:sp>
        <p:nvSpPr>
          <p:cNvPr id="13" name="stat 296,817"/>
          <p:cNvSpPr/>
          <p:nvPr/>
        </p:nvSpPr>
        <p:spPr>
          <a:xfrm>
            <a:off x="6309360" y="1188720"/>
            <a:ext cx="1655978" cy="1508760"/>
          </a:xfrm>
          <a:prstGeom prst="roundRect">
            <a:avLst>
              <a:gd name="adj" fmla="val 6061"/>
            </a:avLst>
          </a:prstGeom>
          <a:solidFill>
            <a:schemeClr val="accent3">
              <a:alpha val="10000"/>
            </a:schemeClr>
          </a:solidFill>
          <a:ln w="12700">
            <a:solidFill>
              <a:schemeClr val="accent3"/>
            </a:solidFill>
            <a:prstDash val="solid"/>
          </a:ln>
        </p:spPr>
      </p:sp>
      <p:sp>
        <p:nvSpPr>
          <p:cNvPr id="14" name="Text 12"/>
          <p:cNvSpPr txBox="1"/>
          <p:nvPr/>
        </p:nvSpPr>
        <p:spPr>
          <a:xfrm>
            <a:off x="6446520" y="1298448"/>
            <a:ext cx="1381658" cy="754380"/>
          </a:xfrm>
          <a:prstGeom prst="rect">
            <a:avLst/>
          </a:prstGeom>
          <a:noFill/>
          <a:ln/>
        </p:spPr>
        <p:txBody>
          <a:bodyPr wrap="square" lIns="0" tIns="0" rIns="0" bIns="0" rtlCol="0" anchor="b"/>
          <a:lstStyle/>
          <a:p>
            <a:pPr algn="l" indent="0" marL="0">
              <a:buNone/>
            </a:pPr>
            <a:r>
              <a:rPr lang="en-US" sz="2600" b="1" dirty="0">
                <a:solidFill>
                  <a:schemeClr val="accent3"/>
                </a:solidFill>
              </a:rPr>
              <a:t>296,817</a:t>
            </a:r>
            <a:endParaRPr lang="en-US" sz="2600" dirty="0"/>
          </a:p>
        </p:txBody>
      </p:sp>
      <p:sp>
        <p:nvSpPr>
          <p:cNvPr id="15" name="Text 13"/>
          <p:cNvSpPr txBox="1"/>
          <p:nvPr/>
        </p:nvSpPr>
        <p:spPr>
          <a:xfrm>
            <a:off x="6446520" y="2071116"/>
            <a:ext cx="1381658" cy="516636"/>
          </a:xfrm>
          <a:prstGeom prst="rect">
            <a:avLst/>
          </a:prstGeom>
          <a:noFill/>
          <a:ln/>
        </p:spPr>
        <p:txBody>
          <a:bodyPr wrap="square" lIns="0" tIns="0" rIns="0" bIns="0" rtlCol="0" anchor="t"/>
          <a:lstStyle/>
          <a:p>
            <a:pPr algn="l" indent="0" marL="0">
              <a:buNone/>
            </a:pPr>
            <a:r>
              <a:rPr lang="en-US" sz="1200" dirty="0">
                <a:solidFill>
                  <a:schemeClr val="tx1"/>
                </a:solidFill>
              </a:rPr>
              <a:t>records through the batch ETL</a:t>
            </a:r>
            <a:endParaRPr lang="en-US" sz="1200" dirty="0"/>
          </a:p>
        </p:txBody>
      </p:sp>
      <p:sp>
        <p:nvSpPr>
          <p:cNvPr id="16" name="stat 8 / 8"/>
          <p:cNvSpPr/>
          <p:nvPr/>
        </p:nvSpPr>
        <p:spPr>
          <a:xfrm>
            <a:off x="8193938" y="1188720"/>
            <a:ext cx="1655978" cy="1508760"/>
          </a:xfrm>
          <a:prstGeom prst="roundRect">
            <a:avLst>
              <a:gd name="adj" fmla="val 6061"/>
            </a:avLst>
          </a:prstGeom>
          <a:solidFill>
            <a:schemeClr val="accent4">
              <a:alpha val="10000"/>
            </a:schemeClr>
          </a:solidFill>
          <a:ln w="12700">
            <a:solidFill>
              <a:schemeClr val="accent4"/>
            </a:solidFill>
            <a:prstDash val="solid"/>
          </a:ln>
        </p:spPr>
      </p:sp>
      <p:sp>
        <p:nvSpPr>
          <p:cNvPr id="17" name="Text 15"/>
          <p:cNvSpPr txBox="1"/>
          <p:nvPr/>
        </p:nvSpPr>
        <p:spPr>
          <a:xfrm>
            <a:off x="8331098" y="1298448"/>
            <a:ext cx="1381658" cy="754380"/>
          </a:xfrm>
          <a:prstGeom prst="rect">
            <a:avLst/>
          </a:prstGeom>
          <a:noFill/>
          <a:ln/>
        </p:spPr>
        <p:txBody>
          <a:bodyPr wrap="square" lIns="0" tIns="0" rIns="0" bIns="0" rtlCol="0" anchor="b"/>
          <a:lstStyle/>
          <a:p>
            <a:pPr algn="l" indent="0" marL="0">
              <a:buNone/>
            </a:pPr>
            <a:r>
              <a:rPr lang="en-US" sz="3400" b="1" dirty="0">
                <a:solidFill>
                  <a:schemeClr val="accent4"/>
                </a:solidFill>
              </a:rPr>
              <a:t>8 / 8</a:t>
            </a:r>
            <a:endParaRPr lang="en-US" sz="3400" dirty="0"/>
          </a:p>
        </p:txBody>
      </p:sp>
      <p:sp>
        <p:nvSpPr>
          <p:cNvPr id="18" name="Text 16"/>
          <p:cNvSpPr txBox="1"/>
          <p:nvPr/>
        </p:nvSpPr>
        <p:spPr>
          <a:xfrm>
            <a:off x="8331098" y="2071116"/>
            <a:ext cx="1381658" cy="516636"/>
          </a:xfrm>
          <a:prstGeom prst="rect">
            <a:avLst/>
          </a:prstGeom>
          <a:noFill/>
          <a:ln/>
        </p:spPr>
        <p:txBody>
          <a:bodyPr wrap="square" lIns="0" tIns="0" rIns="0" bIns="0" rtlCol="0" anchor="t"/>
          <a:lstStyle/>
          <a:p>
            <a:pPr algn="l" indent="0" marL="0">
              <a:buNone/>
            </a:pPr>
            <a:r>
              <a:rPr lang="en-US" sz="1200" dirty="0">
                <a:solidFill>
                  <a:schemeClr val="tx1"/>
                </a:solidFill>
              </a:rPr>
              <a:t>defect kinds detected (injected = detected)</a:t>
            </a:r>
            <a:endParaRPr lang="en-US" sz="1200" dirty="0"/>
          </a:p>
        </p:txBody>
      </p:sp>
      <p:sp>
        <p:nvSpPr>
          <p:cNvPr id="19" name="stat 0.677"/>
          <p:cNvSpPr/>
          <p:nvPr/>
        </p:nvSpPr>
        <p:spPr>
          <a:xfrm>
            <a:off x="10078517" y="1188720"/>
            <a:ext cx="1655978" cy="1508760"/>
          </a:xfrm>
          <a:prstGeom prst="roundRect">
            <a:avLst>
              <a:gd name="adj" fmla="val 6061"/>
            </a:avLst>
          </a:prstGeom>
          <a:solidFill>
            <a:schemeClr val="accent5">
              <a:alpha val="10000"/>
            </a:schemeClr>
          </a:solidFill>
          <a:ln w="12700">
            <a:solidFill>
              <a:schemeClr val="accent5"/>
            </a:solidFill>
            <a:prstDash val="solid"/>
          </a:ln>
        </p:spPr>
      </p:sp>
      <p:sp>
        <p:nvSpPr>
          <p:cNvPr id="20" name="Text 18"/>
          <p:cNvSpPr txBox="1"/>
          <p:nvPr/>
        </p:nvSpPr>
        <p:spPr>
          <a:xfrm>
            <a:off x="10215677" y="1298448"/>
            <a:ext cx="1381658" cy="754380"/>
          </a:xfrm>
          <a:prstGeom prst="rect">
            <a:avLst/>
          </a:prstGeom>
          <a:noFill/>
          <a:ln/>
        </p:spPr>
        <p:txBody>
          <a:bodyPr wrap="square" lIns="0" tIns="0" rIns="0" bIns="0" rtlCol="0" anchor="b"/>
          <a:lstStyle/>
          <a:p>
            <a:pPr algn="l" indent="0" marL="0">
              <a:buNone/>
            </a:pPr>
            <a:r>
              <a:rPr lang="en-US" sz="3400" b="1" dirty="0">
                <a:solidFill>
                  <a:schemeClr val="accent5"/>
                </a:solidFill>
              </a:rPr>
              <a:t>0.677</a:t>
            </a:r>
            <a:endParaRPr lang="en-US" sz="3400" dirty="0"/>
          </a:p>
        </p:txBody>
      </p:sp>
      <p:sp>
        <p:nvSpPr>
          <p:cNvPr id="21" name="Text 19"/>
          <p:cNvSpPr txBox="1"/>
          <p:nvPr/>
        </p:nvSpPr>
        <p:spPr>
          <a:xfrm>
            <a:off x="10215677" y="2071116"/>
            <a:ext cx="1381658" cy="516636"/>
          </a:xfrm>
          <a:prstGeom prst="rect">
            <a:avLst/>
          </a:prstGeom>
          <a:noFill/>
          <a:ln/>
        </p:spPr>
        <p:txBody>
          <a:bodyPr wrap="square" lIns="0" tIns="0" rIns="0" bIns="0" rtlCol="0" anchor="t"/>
          <a:lstStyle/>
          <a:p>
            <a:pPr algn="l" indent="0" marL="0">
              <a:buNone/>
            </a:pPr>
            <a:r>
              <a:rPr lang="en-US" sz="1200" dirty="0">
                <a:solidFill>
                  <a:schemeClr val="tx1"/>
                </a:solidFill>
              </a:rPr>
              <a:t>accuracy, synthetic labels (baseline 0.323)</a:t>
            </a:r>
            <a:endParaRPr lang="en-US" sz="1200" dirty="0"/>
          </a:p>
        </p:txBody>
      </p:sp>
      <p:sp>
        <p:nvSpPr>
          <p:cNvPr id="22" name="Text 20"/>
          <p:cNvSpPr txBox="1"/>
          <p:nvPr/>
        </p:nvSpPr>
        <p:spPr>
          <a:xfrm>
            <a:off x="6309360" y="2926080"/>
            <a:ext cx="5425135" cy="365760"/>
          </a:xfrm>
          <a:prstGeom prst="rect">
            <a:avLst/>
          </a:prstGeom>
          <a:noFill/>
          <a:ln/>
        </p:spPr>
        <p:txBody>
          <a:bodyPr wrap="square" lIns="0" tIns="0" rIns="0" bIns="0" rtlCol="0" anchor="ctr"/>
          <a:lstStyle/>
          <a:p>
            <a:pPr indent="0" marL="0">
              <a:buNone/>
            </a:pPr>
            <a:r>
              <a:rPr lang="en-US" sz="1600" b="1" dirty="0">
                <a:solidFill>
                  <a:schemeClr val="accent5"/>
                </a:solidFill>
              </a:rPr>
              <a:t>MLlib pipeline · spark_jobs/model_training.py</a:t>
            </a:r>
            <a:endParaRPr lang="en-US" sz="1600" dirty="0"/>
          </a:p>
        </p:txBody>
      </p:sp>
      <p:sp>
        <p:nvSpPr>
          <p:cNvPr id="23" name="Imputer (median)"/>
          <p:cNvSpPr txBox="1"/>
          <p:nvPr/>
        </p:nvSpPr>
        <p:spPr>
          <a:xfrm>
            <a:off x="6309360" y="3383280"/>
            <a:ext cx="1164260" cy="777240"/>
          </a:xfrm>
          <a:prstGeom prst="roundRect">
            <a:avLst>
              <a:gd name="adj" fmla="val 9412"/>
            </a:avLst>
          </a:prstGeom>
          <a:solidFill>
            <a:schemeClr val="accent5">
              <a:alpha val="8000"/>
            </a:schemeClr>
          </a:solidFill>
          <a:ln w="15875">
            <a:solidFill>
              <a:schemeClr val="accent5"/>
            </a:solidFill>
          </a:ln>
        </p:spPr>
        <p:txBody>
          <a:bodyPr wrap="square" lIns="50800" tIns="76200" rIns="76200" bIns="50800" rtlCol="0" anchor="ctr"/>
          <a:lstStyle/>
          <a:p>
            <a:pPr algn="ctr" indent="0" marL="0">
              <a:buNone/>
            </a:pPr>
            <a:r>
              <a:rPr lang="en-US" sz="1200" b="1" dirty="0">
                <a:solidFill>
                  <a:schemeClr val="tx1"/>
                </a:solidFill>
              </a:rPr>
              <a:t>Imputer (median)</a:t>
            </a:r>
            <a:endParaRPr lang="en-US" sz="1200" dirty="0"/>
          </a:p>
        </p:txBody>
      </p:sp>
      <p:sp>
        <p:nvSpPr>
          <p:cNvPr id="24" name="Shape 22"/>
          <p:cNvSpPr/>
          <p:nvPr/>
        </p:nvSpPr>
        <p:spPr>
          <a:xfrm>
            <a:off x="7501052" y="3771900"/>
            <a:ext cx="201168" cy="0"/>
          </a:xfrm>
          <a:prstGeom prst="line">
            <a:avLst/>
          </a:prstGeom>
          <a:noFill/>
          <a:ln w="25400">
            <a:solidFill>
              <a:schemeClr val="tx2"/>
            </a:solidFill>
            <a:prstDash val="solid"/>
            <a:tailEnd type="triangle"/>
          </a:ln>
        </p:spPr>
      </p:sp>
      <p:sp>
        <p:nvSpPr>
          <p:cNvPr id="25" name="Vector assembler"/>
          <p:cNvSpPr txBox="1"/>
          <p:nvPr/>
        </p:nvSpPr>
        <p:spPr>
          <a:xfrm>
            <a:off x="7729652" y="3383280"/>
            <a:ext cx="1164260" cy="777240"/>
          </a:xfrm>
          <a:prstGeom prst="roundRect">
            <a:avLst>
              <a:gd name="adj" fmla="val 9412"/>
            </a:avLst>
          </a:prstGeom>
          <a:solidFill>
            <a:schemeClr val="accent5">
              <a:alpha val="8000"/>
            </a:schemeClr>
          </a:solidFill>
          <a:ln w="15875">
            <a:solidFill>
              <a:schemeClr val="accent5"/>
            </a:solidFill>
          </a:ln>
        </p:spPr>
        <p:txBody>
          <a:bodyPr wrap="square" lIns="50800" tIns="76200" rIns="76200" bIns="50800" rtlCol="0" anchor="ctr"/>
          <a:lstStyle/>
          <a:p>
            <a:pPr algn="ctr" indent="0" marL="0">
              <a:buNone/>
            </a:pPr>
            <a:r>
              <a:rPr lang="en-US" sz="1200" b="1" dirty="0">
                <a:solidFill>
                  <a:schemeClr val="tx1"/>
                </a:solidFill>
              </a:rPr>
              <a:t>Vector assembler</a:t>
            </a:r>
            <a:endParaRPr lang="en-US" sz="1200" dirty="0"/>
          </a:p>
        </p:txBody>
      </p:sp>
      <p:sp>
        <p:nvSpPr>
          <p:cNvPr id="26" name="Shape 24"/>
          <p:cNvSpPr/>
          <p:nvPr/>
        </p:nvSpPr>
        <p:spPr>
          <a:xfrm>
            <a:off x="8921344" y="3771900"/>
            <a:ext cx="201168" cy="0"/>
          </a:xfrm>
          <a:prstGeom prst="line">
            <a:avLst/>
          </a:prstGeom>
          <a:noFill/>
          <a:ln w="25400">
            <a:solidFill>
              <a:schemeClr val="tx2"/>
            </a:solidFill>
            <a:prstDash val="solid"/>
            <a:tailEnd type="triangle"/>
          </a:ln>
        </p:spPr>
      </p:sp>
      <p:sp>
        <p:nvSpPr>
          <p:cNvPr id="27" name="Decision tree, depth 6"/>
          <p:cNvSpPr txBox="1"/>
          <p:nvPr/>
        </p:nvSpPr>
        <p:spPr>
          <a:xfrm>
            <a:off x="9149944" y="3383280"/>
            <a:ext cx="1164260" cy="777240"/>
          </a:xfrm>
          <a:prstGeom prst="roundRect">
            <a:avLst>
              <a:gd name="adj" fmla="val 9412"/>
            </a:avLst>
          </a:prstGeom>
          <a:solidFill>
            <a:schemeClr val="accent5">
              <a:alpha val="8000"/>
            </a:schemeClr>
          </a:solidFill>
          <a:ln w="15875">
            <a:solidFill>
              <a:schemeClr val="accent5"/>
            </a:solidFill>
          </a:ln>
        </p:spPr>
        <p:txBody>
          <a:bodyPr wrap="square" lIns="50800" tIns="76200" rIns="76200" bIns="50800" rtlCol="0" anchor="ctr"/>
          <a:lstStyle/>
          <a:p>
            <a:pPr algn="ctr" indent="0" marL="0">
              <a:buNone/>
            </a:pPr>
            <a:r>
              <a:rPr lang="en-US" sz="1200" b="1" dirty="0">
                <a:solidFill>
                  <a:schemeClr val="tx1"/>
                </a:solidFill>
              </a:rPr>
              <a:t>Decision tree, depth 6</a:t>
            </a:r>
            <a:endParaRPr lang="en-US" sz="1200" dirty="0"/>
          </a:p>
        </p:txBody>
      </p:sp>
      <p:sp>
        <p:nvSpPr>
          <p:cNvPr id="28" name="Shape 26"/>
          <p:cNvSpPr/>
          <p:nvPr/>
        </p:nvSpPr>
        <p:spPr>
          <a:xfrm>
            <a:off x="10341635" y="3771900"/>
            <a:ext cx="201168" cy="0"/>
          </a:xfrm>
          <a:prstGeom prst="line">
            <a:avLst/>
          </a:prstGeom>
          <a:noFill/>
          <a:ln w="25400">
            <a:solidFill>
              <a:schemeClr val="tx2"/>
            </a:solidFill>
            <a:prstDash val="solid"/>
            <a:tailEnd type="triangle"/>
          </a:ln>
        </p:spPr>
      </p:sp>
      <p:sp>
        <p:nvSpPr>
          <p:cNvPr id="29" name="Index to label"/>
          <p:cNvSpPr txBox="1"/>
          <p:nvPr/>
        </p:nvSpPr>
        <p:spPr>
          <a:xfrm>
            <a:off x="10570235" y="3383280"/>
            <a:ext cx="1164260" cy="777240"/>
          </a:xfrm>
          <a:prstGeom prst="roundRect">
            <a:avLst>
              <a:gd name="adj" fmla="val 9412"/>
            </a:avLst>
          </a:prstGeom>
          <a:solidFill>
            <a:schemeClr val="accent5">
              <a:alpha val="8000"/>
            </a:schemeClr>
          </a:solidFill>
          <a:ln w="15875">
            <a:solidFill>
              <a:schemeClr val="accent5"/>
            </a:solidFill>
          </a:ln>
        </p:spPr>
        <p:txBody>
          <a:bodyPr wrap="square" lIns="50800" tIns="76200" rIns="76200" bIns="50800" rtlCol="0" anchor="ctr"/>
          <a:lstStyle/>
          <a:p>
            <a:pPr algn="ctr" indent="0" marL="0">
              <a:buNone/>
            </a:pPr>
            <a:r>
              <a:rPr lang="en-US" sz="1200" b="1" dirty="0">
                <a:solidFill>
                  <a:schemeClr val="tx1"/>
                </a:solidFill>
              </a:rPr>
              <a:t>Index to label</a:t>
            </a:r>
            <a:endParaRPr lang="en-US" sz="1200" dirty="0"/>
          </a:p>
        </p:txBody>
      </p:sp>
      <p:sp>
        <p:nvSpPr>
          <p:cNvPr id="30" name="Text 28"/>
          <p:cNvSpPr txBox="1"/>
          <p:nvPr/>
        </p:nvSpPr>
        <p:spPr>
          <a:xfrm>
            <a:off x="6309360" y="4343400"/>
            <a:ext cx="5425135" cy="1783080"/>
          </a:xfrm>
          <a:prstGeom prst="rect">
            <a:avLst/>
          </a:prstGeom>
          <a:noFill/>
          <a:ln/>
        </p:spPr>
        <p:txBody>
          <a:bodyPr wrap="square" lIns="25400" tIns="50800" rIns="50800" bIns="25400" rtlCol="0" anchor="t"/>
          <a:lstStyle/>
          <a:p>
            <a:pPr marL="342900" indent="-342900">
              <a:spcAft>
                <a:spcPts val="600"/>
              </a:spcAft>
              <a:buSzPct val="100000"/>
              <a:buChar char="•"/>
            </a:pPr>
            <a:r>
              <a:rPr lang="en-US" sz="1400" dirty="0">
                <a:solidFill>
                  <a:schemeClr val="tx1"/>
                </a:solidFill>
              </a:rPr>
              <a:t>9 point-in-time features: 3 h / 1 h / 6 h look-back, nothing from the incident itself</a:t>
            </a:r>
            <a:endParaRPr lang="en-US" sz="1400" dirty="0"/>
          </a:p>
          <a:p>
            <a:pPr marL="342900" indent="-342900">
              <a:spcAft>
                <a:spcPts val="600"/>
              </a:spcAft>
              <a:buSzPct val="100000"/>
              <a:buChar char="•"/>
            </a:pPr>
            <a:r>
              <a:rPr lang="en-US" sz="1400" dirty="0">
                <a:solidFill>
                  <a:schemeClr val="tx1"/>
                </a:solidFill>
              </a:rPr>
              <a:t>Time-based split: newest 20 % of incidents are the test set</a:t>
            </a:r>
            <a:endParaRPr lang="en-US" sz="1400" dirty="0"/>
          </a:p>
          <a:p>
            <a:pPr marL="342900" indent="-342900">
              <a:spcAft>
                <a:spcPts val="600"/>
              </a:spcAft>
              <a:buSzPct val="100000"/>
              <a:buChar char="•"/>
            </a:pPr>
            <a:r>
              <a:rPr lang="en-US" sz="1400" dirty="0">
                <a:solidFill>
                  <a:schemeClr val="tx1"/>
                </a:solidFill>
              </a:rPr>
              <a:t>Saved, reloaded and checked; served by FastAPI (POST /api/model/predict)</a:t>
            </a:r>
            <a:endParaRPr lang="en-US" sz="1400" dirty="0"/>
          </a:p>
          <a:p>
            <a:pPr marL="342900" indent="-342900">
              <a:spcAft>
                <a:spcPts val="600"/>
              </a:spcAft>
              <a:buSzPct val="100000"/>
              <a:buChar char="•"/>
            </a:pPr>
            <a:r>
              <a:rPr lang="en-US" sz="1400" dirty="0">
                <a:solidFill>
                  <a:schemeClr val="tx1"/>
                </a:solidFill>
              </a:rPr>
              <a:t>Labels come from the simulator's documented rule, not real outcomes</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Explainable zone risk score</a:t>
            </a:r>
            <a:endParaRPr lang="en-US" sz="3200" dirty="0"/>
          </a:p>
        </p:txBody>
      </p:sp>
      <p:sp>
        <p:nvSpPr>
          <p:cNvPr id="3" name="formula"/>
          <p:cNvSpPr txBox="1"/>
          <p:nvPr/>
        </p:nvSpPr>
        <p:spPr>
          <a:xfrm>
            <a:off x="457200" y="1188720"/>
            <a:ext cx="5669280" cy="1143000"/>
          </a:xfrm>
          <a:prstGeom prst="roundRect">
            <a:avLst>
              <a:gd name="adj" fmla="val 8000"/>
            </a:avLst>
          </a:prstGeom>
          <a:solidFill>
            <a:schemeClr val="bg2"/>
          </a:solidFill>
          <a:ln>
            <a:solidFill>
              <a:schemeClr val="bg2"/>
            </a:solidFill>
          </a:ln>
        </p:spPr>
        <p:txBody>
          <a:bodyPr wrap="square" lIns="50800" tIns="177800" rIns="177800" bIns="50800" rtlCol="0" anchor="ctr"/>
          <a:lstStyle/>
          <a:p>
            <a:pPr indent="0" marL="0">
              <a:buNone/>
            </a:pPr>
            <a:r>
              <a:rPr lang="en-US" sz="2600" b="1" dirty="0">
                <a:solidFill>
                  <a:schemeClr val="tx2"/>
                </a:solidFill>
              </a:rPr>
              <a:t>risk = 100 × Σ wᵢ·fᵢ ÷ Σ wᵢ</a:t>
            </a:r>
            <a:endParaRPr lang="en-US" sz="2600" dirty="0"/>
          </a:p>
          <a:p>
            <a:pPr indent="0" marL="0">
              <a:buNone/>
            </a:pPr>
            <a:r>
              <a:rPr lang="en-US" sz="1300" dirty="0">
                <a:solidFill>
                  <a:schemeClr val="tx1"/>
                </a:solidFill>
              </a:rPr>
              <a:t>fᵢ = clamp((value − low) ÷ (high − low), 0, 1) · observed indicators only</a:t>
            </a:r>
            <a:endParaRPr lang="en-US" sz="2600" dirty="0"/>
          </a:p>
        </p:txBody>
      </p:sp>
      <p:graphicFrame>
        <p:nvGraphicFramePr>
          <p:cNvPr id="4" name="Chart 0" descr=""/>
          <p:cNvGraphicFramePr/>
          <p:nvPr/>
        </p:nvGraphicFramePr>
        <p:xfrm>
          <a:off x="457200" y="2468880"/>
          <a:ext cx="5669280" cy="2880360"/>
        </p:xfrm>
        <a:graphic xmlns:a="http://schemas.openxmlformats.org/drawingml/2006/main">
          <a:graphicData uri="http://schemas.openxmlformats.org/drawingml/2006/chart">
            <c:chart xmlns:c="http://schemas.openxmlformats.org/drawingml/2006/chart" r:id="rId1"/>
          </a:graphicData>
        </a:graphic>
      </p:graphicFrame>
      <p:sp>
        <p:nvSpPr>
          <p:cNvPr id="5" name="missing rule"/>
          <p:cNvSpPr txBox="1"/>
          <p:nvPr/>
        </p:nvSpPr>
        <p:spPr>
          <a:xfrm>
            <a:off x="457200" y="5440680"/>
            <a:ext cx="5669280" cy="777240"/>
          </a:xfrm>
          <a:prstGeom prst="roundRect">
            <a:avLst>
              <a:gd name="adj" fmla="val 9412"/>
            </a:avLst>
          </a:prstGeom>
          <a:solidFill>
            <a:schemeClr val="accent3">
              <a:alpha val="10000"/>
            </a:schemeClr>
          </a:solidFill>
          <a:ln w="12700">
            <a:solidFill>
              <a:schemeClr val="accent3"/>
            </a:solidFill>
          </a:ln>
        </p:spPr>
        <p:txBody>
          <a:bodyPr wrap="square" lIns="50800" tIns="127000" rIns="127000" bIns="50800" rtlCol="0" anchor="ctr"/>
          <a:lstStyle/>
          <a:p>
            <a:pPr indent="0" marL="0">
              <a:buNone/>
            </a:pPr>
            <a:r>
              <a:rPr lang="en-US" sz="1300" b="1" dirty="0">
                <a:solidFill>
                  <a:schemeClr val="tx1"/>
                </a:solidFill>
              </a:rPr>
              <a:t>Missing ≠ safe: </a:t>
            </a:r>
            <a:pPr indent="0" marL="0">
              <a:buNone/>
            </a:pPr>
            <a:r>
              <a:rPr lang="en-US" sz="1300" dirty="0">
                <a:solidFill>
                  <a:schemeClr val="tx1"/>
                </a:solidFill>
              </a:rPr>
              <a:t>an indicator nobody measured is left out and lowers coverage; below 40 % coverage the zone is "Insufficient data" with no score.</a:t>
            </a:r>
            <a:endParaRPr lang="en-US" sz="1300" dirty="0"/>
          </a:p>
        </p:txBody>
      </p:sp>
      <p:sp>
        <p:nvSpPr>
          <p:cNvPr id="6" name="Text 3"/>
          <p:cNvSpPr txBox="1"/>
          <p:nvPr/>
        </p:nvSpPr>
        <p:spPr>
          <a:xfrm>
            <a:off x="6492240" y="1188720"/>
            <a:ext cx="5242255" cy="365760"/>
          </a:xfrm>
          <a:prstGeom prst="rect">
            <a:avLst/>
          </a:prstGeom>
          <a:noFill/>
          <a:ln/>
        </p:spPr>
        <p:txBody>
          <a:bodyPr wrap="square" lIns="0" tIns="0" rIns="0" bIns="0" rtlCol="0" anchor="ctr"/>
          <a:lstStyle/>
          <a:p>
            <a:pPr indent="0" marL="0">
              <a:buNone/>
            </a:pPr>
            <a:r>
              <a:rPr lang="en-US" sz="1600" b="1" dirty="0">
                <a:solidFill>
                  <a:schemeClr val="tx2"/>
                </a:solidFill>
              </a:rPr>
              <a:t>Worked example (aegis.risk.assess)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92240" y="1645920"/>
          <a:ext cx="5242255" cy="914400"/>
        </p:xfrm>
        <a:graphic>
          <a:graphicData uri="http://schemas.openxmlformats.org/drawingml/2006/table">
            <a:tbl>
              <a:tblPr/>
              <a:tblGrid>
                <a:gridCol w="1737360"/>
                <a:gridCol w="2057400"/>
                <a:gridCol w="1447495"/>
              </a:tblGrid>
              <a:tr h="384048">
                <a:tc>
                  <a:txBody>
                    <a:bodyPr/>
                    <a:lstStyle/>
                    <a:p>
                      <a:pPr indent="0" marL="0">
                        <a:buNone/>
                      </a:pPr>
                      <a:r>
                        <a:rPr lang="en-US" sz="1300" b="1" dirty="0">
                          <a:solidFill>
                            <a:schemeClr val="bg1"/>
                          </a:solidFill>
                        </a:rPr>
                        <a:t>Indicator</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Observed</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Points</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Rainfall</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 mm/hr</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+11.05</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Water level</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0.90 × danger level</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+18.75</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Incident reports</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2.5 weighted</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+10.00</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Traffic</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50 % disrupted</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+10.00</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Historical hazard</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index 0.6</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+6.00</a:t>
                      </a:r>
                      <a:endParaRPr lang="en-US" sz="1300" dirty="0"/>
                    </a:p>
                  </a:txBody>
                  <a:tcPr marL="76200" marR="76200" marT="38100" marB="38100">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6492240" y="4069080"/>
            <a:ext cx="5242255" cy="777240"/>
          </a:xfrm>
          <a:prstGeom prst="rect">
            <a:avLst/>
          </a:prstGeom>
          <a:noFill/>
          <a:ln/>
        </p:spPr>
        <p:txBody>
          <a:bodyPr wrap="square" lIns="0" tIns="0" rIns="0" bIns="0" rtlCol="0" anchor="ctr"/>
          <a:lstStyle/>
          <a:p>
            <a:pPr indent="0" marL="0">
              <a:buNone/>
            </a:pPr>
            <a:r>
              <a:rPr lang="en-US" sz="4400" b="1" dirty="0">
                <a:solidFill>
                  <a:schemeClr val="accent3"/>
                </a:solidFill>
              </a:rPr>
              <a:t>55.8</a:t>
            </a:r>
            <a:pPr indent="0" marL="0">
              <a:buNone/>
            </a:pPr>
            <a:r>
              <a:rPr lang="en-US" sz="2800" b="1" dirty="0">
                <a:solidFill>
                  <a:schemeClr val="tx2"/>
                </a:solidFill>
              </a:rPr>
              <a:t>  →  High</a:t>
            </a:r>
            <a:endParaRPr lang="en-US" sz="4400" dirty="0"/>
          </a:p>
        </p:txBody>
      </p:sp>
      <p:sp>
        <p:nvSpPr>
          <p:cNvPr id="9" name="Text 5"/>
          <p:cNvSpPr txBox="1"/>
          <p:nvPr/>
        </p:nvSpPr>
        <p:spPr>
          <a:xfrm>
            <a:off x="6492240" y="4892040"/>
            <a:ext cx="5242255" cy="685800"/>
          </a:xfrm>
          <a:prstGeom prst="rect">
            <a:avLst/>
          </a:prstGeom>
          <a:noFill/>
          <a:ln/>
        </p:spPr>
        <p:txBody>
          <a:bodyPr wrap="square" lIns="0" tIns="0" rIns="0" bIns="0" rtlCol="0" anchor="t"/>
          <a:lstStyle/>
          <a:p>
            <a:pPr indent="0" marL="0">
              <a:buNone/>
            </a:pPr>
            <a:r>
              <a:rPr lang="en-US" sz="1300" dirty="0">
                <a:solidFill>
                  <a:schemeClr val="tx1"/>
                </a:solidFill>
              </a:rPr>
              <a:t>Low &lt; 25 ≤ Moderate &lt; 50 ≤ High &lt; 75 ≤ Critical · coverage 100 % → high confidence · the explanation names the top contributors</a:t>
            </a:r>
            <a:endParaRPr lang="en-US" sz="1300" dirty="0"/>
          </a:p>
        </p:txBody>
      </p:sp>
      <p:sp>
        <p:nvSpPr>
          <p:cNvPr id="10" name="Text 6"/>
          <p:cNvSpPr txBox="1"/>
          <p:nvPr/>
        </p:nvSpPr>
        <p:spPr>
          <a:xfrm>
            <a:off x="6492240" y="5623560"/>
            <a:ext cx="5242255" cy="594360"/>
          </a:xfrm>
          <a:prstGeom prst="rect">
            <a:avLst/>
          </a:prstGeom>
          <a:noFill/>
          <a:ln/>
        </p:spPr>
        <p:txBody>
          <a:bodyPr wrap="square" lIns="0" tIns="0" rIns="0" bIns="0" rtlCol="0" anchor="t"/>
          <a:lstStyle/>
          <a:p>
            <a:pPr indent="0" marL="0">
              <a:buNone/>
            </a:pPr>
            <a:r>
              <a:rPr lang="en-US" sz="1300" i="1" dirty="0">
                <a:solidFill>
                  <a:schemeClr val="tx2"/>
                </a:solidFill>
              </a:rPr>
              <a:t>Rain alone (30 % of the weight) can never produce a score: heavy rain is not the same as a flood.</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Storage: HBase for now, Parquet for history</a:t>
            </a:r>
            <a:endParaRPr lang="en-US" sz="3200" dirty="0"/>
          </a:p>
        </p:txBody>
      </p:sp>
      <p:sp>
        <p:nvSpPr>
          <p:cNvPr id="3" name="Text 1"/>
          <p:cNvSpPr txBox="1"/>
          <p:nvPr/>
        </p:nvSpPr>
        <p:spPr>
          <a:xfrm>
            <a:off x="457200" y="1188720"/>
            <a:ext cx="6949440" cy="365760"/>
          </a:xfrm>
          <a:prstGeom prst="rect">
            <a:avLst/>
          </a:prstGeom>
          <a:noFill/>
          <a:ln/>
        </p:spPr>
        <p:txBody>
          <a:bodyPr wrap="square" lIns="0" tIns="0" rIns="0" bIns="0" rtlCol="0" anchor="ctr"/>
          <a:lstStyle/>
          <a:p>
            <a:pPr indent="0" marL="0">
              <a:buNone/>
            </a:pPr>
            <a:r>
              <a:rPr lang="en-US" sz="1600" b="1" dirty="0">
                <a:solidFill>
                  <a:schemeClr val="accent4"/>
                </a:solidFill>
              </a:rPr>
              <a:t>HBase 2.5 · row-key design</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6949440" cy="914400"/>
        </p:xfrm>
        <a:graphic>
          <a:graphicData uri="http://schemas.openxmlformats.org/drawingml/2006/table">
            <a:tbl>
              <a:tblPr/>
              <a:tblGrid>
                <a:gridCol w="1874520"/>
                <a:gridCol w="2514600"/>
                <a:gridCol w="2560320"/>
              </a:tblGrid>
              <a:tr h="566928">
                <a:tc>
                  <a:txBody>
                    <a:bodyPr/>
                    <a:lstStyle/>
                    <a:p>
                      <a:pPr indent="0" marL="0">
                        <a:buNone/>
                      </a:pPr>
                      <a:r>
                        <a:rPr lang="en-US" sz="1200" b="1" dirty="0">
                          <a:solidFill>
                            <a:schemeClr val="bg1"/>
                          </a:solidFill>
                        </a:rPr>
                        <a:t>Table</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bg1"/>
                          </a:solidFill>
                        </a:rPr>
                        <a:t>Row key</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bg1"/>
                          </a:solidFill>
                        </a:rPr>
                        <a:t>Why</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4"/>
                    </a:solidFill>
                  </a:tcPr>
                </a:tc>
              </a:tr>
              <a:tr h="566928">
                <a:tc>
                  <a:txBody>
                    <a:bodyPr/>
                    <a:lstStyle/>
                    <a:p>
                      <a:pPr indent="0" marL="0">
                        <a:buNone/>
                      </a:pPr>
                      <a:r>
                        <a:rPr lang="en-US" sz="1200" dirty="0">
                          <a:solidFill>
                            <a:schemeClr val="tx1"/>
                          </a:solidFill>
                        </a:rPr>
                        <a:t>sensor_observations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source_id # event_ts_ms # event_id</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 station's readings in time order</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200" dirty="0">
                          <a:solidFill>
                            <a:schemeClr val="tx1"/>
                          </a:solidFill>
                        </a:rPr>
                        <a:t>incident_records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incident_id</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direct lookup; 3 versions of verification</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200" dirty="0">
                          <a:solidFill>
                            <a:schemeClr val="tx1"/>
                          </a:solidFill>
                        </a:rPr>
                        <a:t>zone_risk_history</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zone_id # live|hourly # window_start_ms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latest risk = reverse prefix scan; 5 score versions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200" dirty="0">
                          <a:solidFill>
                            <a:schemeClr val="tx1"/>
                          </a:solidFill>
                        </a:rPr>
                        <a:t>processing_metrics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component # ts_ms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streaming batch metrics, 7-day TTL</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200" dirty="0">
                          <a:solidFill>
                            <a:schemeClr val="tx1"/>
                          </a:solidFill>
                        </a:rPr>
                        <a:t>model_predictions</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subject # (max − ts_ms) # id</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reverse timestamp: newest first</a:t>
                      </a:r>
                      <a:endParaRPr lang="en-US" sz="1200" dirty="0"/>
                    </a:p>
                  </a:txBody>
                  <a:tcPr marL="76200" marR="76200" marT="38100" marB="38100"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457200" y="5166360"/>
            <a:ext cx="6949440" cy="822960"/>
          </a:xfrm>
          <a:prstGeom prst="rect">
            <a:avLst/>
          </a:prstGeom>
          <a:noFill/>
          <a:ln/>
        </p:spPr>
        <p:txBody>
          <a:bodyPr wrap="square" lIns="0" tIns="0" rIns="0" bIns="0" rtlCol="0" anchor="t"/>
          <a:lstStyle/>
          <a:p>
            <a:pPr indent="0" marL="0">
              <a:buNone/>
            </a:pPr>
            <a:r>
              <a:rPr lang="en-US" sz="1300" dirty="0">
                <a:solidFill>
                  <a:schemeClr val="tx1"/>
                </a:solidFill>
              </a:rPr>
              <a:t>Timestamps are zero-padded to 13 digits, so byte order equals time order. Re-processing an event writes the same row key: writes are idempotent.</a:t>
            </a:r>
            <a:endParaRPr lang="en-US" sz="1300" dirty="0"/>
          </a:p>
        </p:txBody>
      </p:sp>
      <p:sp>
        <p:nvSpPr>
          <p:cNvPr id="6" name="Text 3"/>
          <p:cNvSpPr txBox="1"/>
          <p:nvPr/>
        </p:nvSpPr>
        <p:spPr>
          <a:xfrm>
            <a:off x="7863840" y="1188720"/>
            <a:ext cx="3870655" cy="365760"/>
          </a:xfrm>
          <a:prstGeom prst="rect">
            <a:avLst/>
          </a:prstGeom>
          <a:noFill/>
          <a:ln/>
        </p:spPr>
        <p:txBody>
          <a:bodyPr wrap="square" lIns="0" tIns="0" rIns="0" bIns="0" rtlCol="0" anchor="ctr"/>
          <a:lstStyle/>
          <a:p>
            <a:pPr indent="0" marL="0">
              <a:buNone/>
            </a:pPr>
            <a:r>
              <a:rPr lang="en-US" sz="1600" b="1" dirty="0">
                <a:solidFill>
                  <a:schemeClr val="accent4"/>
                </a:solidFill>
              </a:rPr>
              <a:t>Parquet lake · data/lake</a:t>
            </a:r>
            <a:endParaRPr lang="en-US" sz="1600" dirty="0"/>
          </a:p>
        </p:txBody>
      </p:sp>
      <p:sp>
        <p:nvSpPr>
          <p:cNvPr id="7" name="Bronze"/>
          <p:cNvSpPr txBox="1"/>
          <p:nvPr/>
        </p:nvSpPr>
        <p:spPr>
          <a:xfrm>
            <a:off x="7863840" y="1645920"/>
            <a:ext cx="3870655" cy="731520"/>
          </a:xfrm>
          <a:prstGeom prst="roundRect">
            <a:avLst>
              <a:gd name="adj" fmla="val 10000"/>
            </a:avLst>
          </a:prstGeom>
          <a:solidFill>
            <a:schemeClr val="accent2">
              <a:alpha val="10000"/>
            </a:schemeClr>
          </a:solidFill>
          <a:ln w="15875">
            <a:solidFill>
              <a:schemeClr val="accent2"/>
            </a:solidFill>
          </a:ln>
        </p:spPr>
        <p:txBody>
          <a:bodyPr wrap="square" lIns="50800" tIns="76200" rIns="76200" bIns="50800" rtlCol="0" anchor="ctr"/>
          <a:lstStyle/>
          <a:p>
            <a:pPr algn="l" indent="0" marL="0">
              <a:buNone/>
            </a:pPr>
            <a:r>
              <a:rPr lang="en-US" sz="1400" b="1" dirty="0">
                <a:solidFill>
                  <a:schemeClr val="tx1"/>
                </a:solidFill>
              </a:rPr>
              <a:t>Bronze</a:t>
            </a:r>
            <a:endParaRPr lang="en-US" sz="1400" dirty="0"/>
          </a:p>
          <a:p>
            <a:pPr algn="l" indent="0" marL="0">
              <a:buNone/>
            </a:pPr>
            <a:r>
              <a:rPr lang="en-US" sz="1200" dirty="0">
                <a:solidFill>
                  <a:schemeClr val="tx1"/>
                </a:solidFill>
              </a:rPr>
              <a:t>raw records as received</a:t>
            </a:r>
            <a:endParaRPr lang="en-US" sz="1400" dirty="0"/>
          </a:p>
        </p:txBody>
      </p:sp>
      <p:sp>
        <p:nvSpPr>
          <p:cNvPr id="8" name="Silver"/>
          <p:cNvSpPr txBox="1"/>
          <p:nvPr/>
        </p:nvSpPr>
        <p:spPr>
          <a:xfrm>
            <a:off x="7863840" y="2514600"/>
            <a:ext cx="3870655" cy="731520"/>
          </a:xfrm>
          <a:prstGeom prst="roundRect">
            <a:avLst>
              <a:gd name="adj" fmla="val 10000"/>
            </a:avLst>
          </a:prstGeom>
          <a:solidFill>
            <a:schemeClr val="accent1">
              <a:alpha val="10000"/>
            </a:schemeClr>
          </a:solidFill>
          <a:ln w="15875">
            <a:solidFill>
              <a:schemeClr val="accent1"/>
            </a:solidFill>
          </a:ln>
        </p:spPr>
        <p:txBody>
          <a:bodyPr wrap="square" lIns="50800" tIns="76200" rIns="76200" bIns="50800" rtlCol="0" anchor="ctr"/>
          <a:lstStyle/>
          <a:p>
            <a:pPr algn="l" indent="0" marL="0">
              <a:buNone/>
            </a:pPr>
            <a:r>
              <a:rPr lang="en-US" sz="1400" b="1" dirty="0">
                <a:solidFill>
                  <a:schemeClr val="tx1"/>
                </a:solidFill>
              </a:rPr>
              <a:t>Silver</a:t>
            </a:r>
            <a:endParaRPr lang="en-US" sz="1400" dirty="0"/>
          </a:p>
          <a:p>
            <a:pPr algn="l" indent="0" marL="0">
              <a:buNone/>
            </a:pPr>
            <a:r>
              <a:rPr lang="en-US" sz="1200" dirty="0">
                <a:solidFill>
                  <a:schemeClr val="tx1"/>
                </a:solidFill>
              </a:rPr>
              <a:t>validated, de-duplicated</a:t>
            </a:r>
            <a:endParaRPr lang="en-US" sz="1400" dirty="0"/>
          </a:p>
        </p:txBody>
      </p:sp>
      <p:sp>
        <p:nvSpPr>
          <p:cNvPr id="9" name="Gold"/>
          <p:cNvSpPr txBox="1"/>
          <p:nvPr/>
        </p:nvSpPr>
        <p:spPr>
          <a:xfrm>
            <a:off x="7863840" y="3383280"/>
            <a:ext cx="3870655" cy="731520"/>
          </a:xfrm>
          <a:prstGeom prst="roundRect">
            <a:avLst>
              <a:gd name="adj" fmla="val 10000"/>
            </a:avLst>
          </a:prstGeom>
          <a:solidFill>
            <a:schemeClr val="accent4">
              <a:alpha val="10000"/>
            </a:schemeClr>
          </a:solidFill>
          <a:ln w="15875">
            <a:solidFill>
              <a:schemeClr val="accent4"/>
            </a:solidFill>
          </a:ln>
        </p:spPr>
        <p:txBody>
          <a:bodyPr wrap="square" lIns="50800" tIns="76200" rIns="76200" bIns="50800" rtlCol="0" anchor="ctr"/>
          <a:lstStyle/>
          <a:p>
            <a:pPr algn="l" indent="0" marL="0">
              <a:buNone/>
            </a:pPr>
            <a:r>
              <a:rPr lang="en-US" sz="1400" b="1" dirty="0">
                <a:solidFill>
                  <a:schemeClr val="tx1"/>
                </a:solidFill>
              </a:rPr>
              <a:t>Gold</a:t>
            </a:r>
            <a:endParaRPr lang="en-US" sz="1400" dirty="0"/>
          </a:p>
          <a:p>
            <a:pPr algn="l" indent="0" marL="0">
              <a:buNone/>
            </a:pPr>
            <a:r>
              <a:rPr lang="en-US" sz="1200" dirty="0">
                <a:solidFill>
                  <a:schemeClr val="tx1"/>
                </a:solidFill>
              </a:rPr>
              <a:t>zone risk, trends, ML set</a:t>
            </a:r>
            <a:endParaRPr lang="en-US" sz="1400" dirty="0"/>
          </a:p>
        </p:txBody>
      </p:sp>
      <p:sp>
        <p:nvSpPr>
          <p:cNvPr id="10" name="Live + quarantine"/>
          <p:cNvSpPr txBox="1"/>
          <p:nvPr/>
        </p:nvSpPr>
        <p:spPr>
          <a:xfrm>
            <a:off x="7863840" y="4251960"/>
            <a:ext cx="3870655" cy="731520"/>
          </a:xfrm>
          <a:prstGeom prst="roundRect">
            <a:avLst>
              <a:gd name="adj" fmla="val 10000"/>
            </a:avLst>
          </a:prstGeom>
          <a:solidFill>
            <a:schemeClr val="accent3">
              <a:alpha val="10000"/>
            </a:schemeClr>
          </a:solidFill>
          <a:ln w="15875">
            <a:solidFill>
              <a:schemeClr val="accent3"/>
            </a:solidFill>
          </a:ln>
        </p:spPr>
        <p:txBody>
          <a:bodyPr wrap="square" lIns="50800" tIns="76200" rIns="76200" bIns="50800" rtlCol="0" anchor="ctr"/>
          <a:lstStyle/>
          <a:p>
            <a:pPr algn="l" indent="0" marL="0">
              <a:buNone/>
            </a:pPr>
            <a:r>
              <a:rPr lang="en-US" sz="1400" b="1" dirty="0">
                <a:solidFill>
                  <a:schemeClr val="tx1"/>
                </a:solidFill>
              </a:rPr>
              <a:t>Live + quarantine</a:t>
            </a:r>
            <a:endParaRPr lang="en-US" sz="1400" dirty="0"/>
          </a:p>
          <a:p>
            <a:pPr algn="l" indent="0" marL="0">
              <a:buNone/>
            </a:pPr>
            <a:r>
              <a:rPr lang="en-US" sz="1200" dirty="0">
                <a:solidFill>
                  <a:schemeClr val="tx1"/>
                </a:solidFill>
              </a:rPr>
              <a:t>streaming outputs, rejected rows</a:t>
            </a:r>
            <a:endParaRPr lang="en-US" sz="1400" dirty="0"/>
          </a:p>
        </p:txBody>
      </p:sp>
      <p:sp>
        <p:nvSpPr>
          <p:cNvPr id="11" name="Text 8"/>
          <p:cNvSpPr txBox="1"/>
          <p:nvPr/>
        </p:nvSpPr>
        <p:spPr>
          <a:xfrm>
            <a:off x="7863840" y="5166360"/>
            <a:ext cx="3870655" cy="822960"/>
          </a:xfrm>
          <a:prstGeom prst="rect">
            <a:avLst/>
          </a:prstGeom>
          <a:noFill/>
          <a:ln/>
        </p:spPr>
        <p:txBody>
          <a:bodyPr wrap="square" lIns="0" tIns="0" rIns="0" bIns="0" rtlCol="0" anchor="t"/>
          <a:lstStyle/>
          <a:p>
            <a:pPr indent="0" marL="0">
              <a:buNone/>
            </a:pPr>
            <a:r>
              <a:rPr lang="en-US" sz="1300" dirty="0">
                <a:solidFill>
                  <a:schemeClr val="tx1"/>
                </a:solidFill>
              </a:rPr>
              <a:t>Columnar, compressed, partitioned by date; read by Spark and directly by the API with pyarrow.</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Three data modes, always labelled</a:t>
            </a:r>
            <a:endParaRPr lang="en-US" sz="3200" dirty="0"/>
          </a:p>
        </p:txBody>
      </p:sp>
      <p:sp>
        <p:nvSpPr>
          <p:cNvPr id="3" name="Synthetic card"/>
          <p:cNvSpPr/>
          <p:nvPr/>
        </p:nvSpPr>
        <p:spPr>
          <a:xfrm>
            <a:off x="457200" y="1234440"/>
            <a:ext cx="3515258" cy="4434840"/>
          </a:xfrm>
          <a:prstGeom prst="roundRect">
            <a:avLst>
              <a:gd name="adj" fmla="val 3121"/>
            </a:avLst>
          </a:prstGeom>
          <a:solidFill>
            <a:schemeClr val="accent1">
              <a:alpha val="10000"/>
            </a:schemeClr>
          </a:solidFill>
          <a:ln w="12700">
            <a:solidFill>
              <a:schemeClr val="accent1"/>
            </a:solidFill>
            <a:prstDash val="solid"/>
          </a:ln>
        </p:spPr>
      </p:sp>
      <p:sp>
        <p:nvSpPr>
          <p:cNvPr id="4" name="step 1"/>
          <p:cNvSpPr txBox="1"/>
          <p:nvPr/>
        </p:nvSpPr>
        <p:spPr>
          <a:xfrm>
            <a:off x="685800" y="14630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5" name="Text 3"/>
          <p:cNvSpPr txBox="1"/>
          <p:nvPr/>
        </p:nvSpPr>
        <p:spPr>
          <a:xfrm>
            <a:off x="1325880" y="1435608"/>
            <a:ext cx="2509418" cy="548640"/>
          </a:xfrm>
          <a:prstGeom prst="rect">
            <a:avLst/>
          </a:prstGeom>
          <a:noFill/>
          <a:ln/>
        </p:spPr>
        <p:txBody>
          <a:bodyPr wrap="square" lIns="0" tIns="0" rIns="0" bIns="0" rtlCol="0" anchor="ctr"/>
          <a:lstStyle/>
          <a:p>
            <a:pPr indent="0" marL="0">
              <a:buNone/>
            </a:pPr>
            <a:r>
              <a:rPr lang="en-US" sz="2200" b="1" dirty="0">
                <a:solidFill>
                  <a:schemeClr val="accent1"/>
                </a:solidFill>
              </a:rPr>
              <a:t>Synthetic</a:t>
            </a:r>
            <a:endParaRPr lang="en-US" sz="2200" dirty="0"/>
          </a:p>
        </p:txBody>
      </p:sp>
      <p:sp>
        <p:nvSpPr>
          <p:cNvPr id="6" name="Text 4"/>
          <p:cNvSpPr txBox="1"/>
          <p:nvPr/>
        </p:nvSpPr>
        <p:spPr>
          <a:xfrm>
            <a:off x="685800" y="2103120"/>
            <a:ext cx="3058058" cy="3200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data/</a:t>
            </a:r>
            <a:endParaRPr lang="en-US" sz="1300" dirty="0"/>
          </a:p>
        </p:txBody>
      </p:sp>
      <p:sp>
        <p:nvSpPr>
          <p:cNvPr id="7" name="Text 5"/>
          <p:cNvSpPr txBox="1"/>
          <p:nvPr/>
        </p:nvSpPr>
        <p:spPr>
          <a:xfrm>
            <a:off x="640080" y="2514600"/>
            <a:ext cx="3149498" cy="2468880"/>
          </a:xfrm>
          <a:prstGeom prst="rect">
            <a:avLst/>
          </a:prstGeom>
          <a:noFill/>
          <a:ln/>
        </p:spPr>
        <p:txBody>
          <a:bodyPr wrap="square" lIns="25400" tIns="50800" rIns="50800" bIns="25400" rtlCol="0" anchor="t"/>
          <a:lstStyle/>
          <a:p>
            <a:pPr marL="342900" indent="-342900">
              <a:spcAft>
                <a:spcPts val="600"/>
              </a:spcAft>
              <a:buSzPct val="100000"/>
              <a:buChar char="•"/>
            </a:pPr>
            <a:r>
              <a:rPr lang="en-US" sz="1400" dirty="0">
                <a:solidFill>
                  <a:schemeClr val="tx1"/>
                </a:solidFill>
              </a:rPr>
              <a:t>Everything simulated: weather, river levels, traffic, citizen reports, incidents and labels</a:t>
            </a:r>
            <a:endParaRPr lang="en-US" sz="1400" dirty="0"/>
          </a:p>
          <a:p>
            <a:pPr marL="342900" indent="-342900">
              <a:spcAft>
                <a:spcPts val="600"/>
              </a:spcAft>
              <a:buSzPct val="100000"/>
              <a:buChar char="•"/>
            </a:pPr>
            <a:r>
              <a:rPr lang="en-US" sz="1400" dirty="0">
                <a:solidFill>
                  <a:schemeClr val="tx1"/>
                </a:solidFill>
              </a:rPr>
              <a:t>Live Kafka stream + Structured Streaming</a:t>
            </a:r>
            <a:endParaRPr lang="en-US" sz="1400" dirty="0"/>
          </a:p>
          <a:p>
            <a:pPr marL="342900" indent="-342900">
              <a:spcAft>
                <a:spcPts val="600"/>
              </a:spcAft>
              <a:buSzPct val="100000"/>
              <a:buChar char="•"/>
            </a:pPr>
            <a:r>
              <a:rPr lang="en-US" sz="1400" dirty="0">
                <a:solidFill>
                  <a:schemeClr val="tx1"/>
                </a:solidFill>
              </a:rPr>
              <a:t>Deliberate defects to test the pipeline</a:t>
            </a:r>
            <a:endParaRPr lang="en-US" sz="1400" dirty="0"/>
          </a:p>
        </p:txBody>
      </p:sp>
      <p:sp>
        <p:nvSpPr>
          <p:cNvPr id="8" name="Text 6"/>
          <p:cNvSpPr txBox="1"/>
          <p:nvPr/>
        </p:nvSpPr>
        <p:spPr>
          <a:xfrm>
            <a:off x="685800" y="5120640"/>
            <a:ext cx="3058058" cy="365760"/>
          </a:xfrm>
          <a:prstGeom prst="rect">
            <a:avLst/>
          </a:prstGeom>
          <a:noFill/>
          <a:ln/>
        </p:spPr>
        <p:txBody>
          <a:bodyPr wrap="square" lIns="0" tIns="0" rIns="0" bIns="0" rtlCol="0" anchor="ctr"/>
          <a:lstStyle/>
          <a:p>
            <a:pPr indent="0" marL="0">
              <a:buNone/>
            </a:pPr>
            <a:r>
              <a:rPr lang="en-US" sz="1300" b="1" dirty="0">
                <a:solidFill>
                  <a:schemeClr val="tx2"/>
                </a:solidFill>
              </a:rPr>
              <a:t>API :8000 · dashboard :5173</a:t>
            </a:r>
            <a:endParaRPr lang="en-US" sz="1300" dirty="0"/>
          </a:p>
        </p:txBody>
      </p:sp>
      <p:sp>
        <p:nvSpPr>
          <p:cNvPr id="9" name="Real historical card"/>
          <p:cNvSpPr/>
          <p:nvPr/>
        </p:nvSpPr>
        <p:spPr>
          <a:xfrm>
            <a:off x="4338218" y="1234440"/>
            <a:ext cx="3515258" cy="4434840"/>
          </a:xfrm>
          <a:prstGeom prst="roundRect">
            <a:avLst>
              <a:gd name="adj" fmla="val 3121"/>
            </a:avLst>
          </a:prstGeom>
          <a:solidFill>
            <a:schemeClr val="accent4">
              <a:alpha val="10000"/>
            </a:schemeClr>
          </a:solidFill>
          <a:ln w="12700">
            <a:solidFill>
              <a:schemeClr val="accent4"/>
            </a:solidFill>
            <a:prstDash val="solid"/>
          </a:ln>
        </p:spPr>
      </p:sp>
      <p:sp>
        <p:nvSpPr>
          <p:cNvPr id="10" name="step 2"/>
          <p:cNvSpPr txBox="1"/>
          <p:nvPr/>
        </p:nvSpPr>
        <p:spPr>
          <a:xfrm>
            <a:off x="4566818" y="1463040"/>
            <a:ext cx="502920" cy="50292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Text 9"/>
          <p:cNvSpPr txBox="1"/>
          <p:nvPr/>
        </p:nvSpPr>
        <p:spPr>
          <a:xfrm>
            <a:off x="5206898" y="1435608"/>
            <a:ext cx="2509418" cy="548640"/>
          </a:xfrm>
          <a:prstGeom prst="rect">
            <a:avLst/>
          </a:prstGeom>
          <a:noFill/>
          <a:ln/>
        </p:spPr>
        <p:txBody>
          <a:bodyPr wrap="square" lIns="0" tIns="0" rIns="0" bIns="0" rtlCol="0" anchor="ctr"/>
          <a:lstStyle/>
          <a:p>
            <a:pPr indent="0" marL="0">
              <a:buNone/>
            </a:pPr>
            <a:r>
              <a:rPr lang="en-US" sz="2200" b="1" dirty="0">
                <a:solidFill>
                  <a:schemeClr val="accent4"/>
                </a:solidFill>
              </a:rPr>
              <a:t>Real historical</a:t>
            </a:r>
            <a:endParaRPr lang="en-US" sz="2200" dirty="0"/>
          </a:p>
        </p:txBody>
      </p:sp>
      <p:sp>
        <p:nvSpPr>
          <p:cNvPr id="12" name="Text 10"/>
          <p:cNvSpPr txBox="1"/>
          <p:nvPr/>
        </p:nvSpPr>
        <p:spPr>
          <a:xfrm>
            <a:off x="4566818" y="2103120"/>
            <a:ext cx="3058058" cy="3200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data_real/</a:t>
            </a:r>
            <a:endParaRPr lang="en-US" sz="1300" dirty="0"/>
          </a:p>
        </p:txBody>
      </p:sp>
      <p:sp>
        <p:nvSpPr>
          <p:cNvPr id="13" name="Text 11"/>
          <p:cNvSpPr txBox="1"/>
          <p:nvPr/>
        </p:nvSpPr>
        <p:spPr>
          <a:xfrm>
            <a:off x="4521098" y="2514600"/>
            <a:ext cx="3149498" cy="2468880"/>
          </a:xfrm>
          <a:prstGeom prst="rect">
            <a:avLst/>
          </a:prstGeom>
          <a:noFill/>
          <a:ln/>
        </p:spPr>
        <p:txBody>
          <a:bodyPr wrap="square" lIns="25400" tIns="50800" rIns="50800" bIns="25400" rtlCol="0" anchor="t"/>
          <a:lstStyle/>
          <a:p>
            <a:pPr marL="342900" indent="-342900">
              <a:spcAft>
                <a:spcPts val="600"/>
              </a:spcAft>
              <a:buSzPct val="100000"/>
              <a:buChar char="•"/>
            </a:pPr>
            <a:r>
              <a:rPr lang="en-US" sz="1400" dirty="0">
                <a:solidFill>
                  <a:schemeClr val="tx1"/>
                </a:solidFill>
              </a:rPr>
              <a:t>Real: ERA5 hourly rain, IMD + NOAA daily rain, DFO + GDACS flood events (Nov–Dec 2023)</a:t>
            </a:r>
            <a:endParaRPr lang="en-US" sz="1400" dirty="0"/>
          </a:p>
          <a:p>
            <a:pPr marL="342900" indent="-342900">
              <a:spcAft>
                <a:spcPts val="600"/>
              </a:spcAft>
              <a:buSzPct val="100000"/>
              <a:buChar char="•"/>
            </a:pPr>
            <a:r>
              <a:rPr lang="en-US" sz="1400" dirty="0">
                <a:solidFill>
                  <a:schemeClr val="tx1"/>
                </a:solidFill>
              </a:rPr>
              <a:t>No open source for water level, traffic or reports → "Insufficient data"</a:t>
            </a:r>
            <a:endParaRPr lang="en-US" sz="1400" dirty="0"/>
          </a:p>
          <a:p>
            <a:pPr marL="342900" indent="-342900">
              <a:spcAft>
                <a:spcPts val="600"/>
              </a:spcAft>
              <a:buSzPct val="100000"/>
              <a:buChar char="•"/>
            </a:pPr>
            <a:r>
              <a:rPr lang="en-US" sz="1400" dirty="0">
                <a:solidFill>
                  <a:schemeClr val="tx1"/>
                </a:solidFill>
              </a:rPr>
              <a:t>Batch only</a:t>
            </a:r>
            <a:endParaRPr lang="en-US" sz="1400" dirty="0"/>
          </a:p>
        </p:txBody>
      </p:sp>
      <p:sp>
        <p:nvSpPr>
          <p:cNvPr id="14" name="Text 12"/>
          <p:cNvSpPr txBox="1"/>
          <p:nvPr/>
        </p:nvSpPr>
        <p:spPr>
          <a:xfrm>
            <a:off x="4566818" y="5120640"/>
            <a:ext cx="3058058" cy="365760"/>
          </a:xfrm>
          <a:prstGeom prst="rect">
            <a:avLst/>
          </a:prstGeom>
          <a:noFill/>
          <a:ln/>
        </p:spPr>
        <p:txBody>
          <a:bodyPr wrap="square" lIns="0" tIns="0" rIns="0" bIns="0" rtlCol="0" anchor="ctr"/>
          <a:lstStyle/>
          <a:p>
            <a:pPr indent="0" marL="0">
              <a:buNone/>
            </a:pPr>
            <a:r>
              <a:rPr lang="en-US" sz="1300" b="1" dirty="0">
                <a:solidFill>
                  <a:schemeClr val="tx2"/>
                </a:solidFill>
              </a:rPr>
              <a:t>API :8001 · dashboard :5174</a:t>
            </a:r>
            <a:endParaRPr lang="en-US" sz="1300" dirty="0"/>
          </a:p>
        </p:txBody>
      </p:sp>
      <p:sp>
        <p:nvSpPr>
          <p:cNvPr id="15" name="Hybrid card"/>
          <p:cNvSpPr/>
          <p:nvPr/>
        </p:nvSpPr>
        <p:spPr>
          <a:xfrm>
            <a:off x="8219237" y="1234440"/>
            <a:ext cx="3515258" cy="4434840"/>
          </a:xfrm>
          <a:prstGeom prst="roundRect">
            <a:avLst>
              <a:gd name="adj" fmla="val 3121"/>
            </a:avLst>
          </a:prstGeom>
          <a:solidFill>
            <a:schemeClr val="accent2">
              <a:alpha val="10000"/>
            </a:schemeClr>
          </a:solidFill>
          <a:ln w="12700">
            <a:solidFill>
              <a:schemeClr val="accent2"/>
            </a:solidFill>
            <a:prstDash val="solid"/>
          </a:ln>
        </p:spPr>
      </p:sp>
      <p:sp>
        <p:nvSpPr>
          <p:cNvPr id="16" name="step 3"/>
          <p:cNvSpPr txBox="1"/>
          <p:nvPr/>
        </p:nvSpPr>
        <p:spPr>
          <a:xfrm>
            <a:off x="8447837" y="146304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7" name="Text 15"/>
          <p:cNvSpPr txBox="1"/>
          <p:nvPr/>
        </p:nvSpPr>
        <p:spPr>
          <a:xfrm>
            <a:off x="9087917" y="1435608"/>
            <a:ext cx="2509418" cy="548640"/>
          </a:xfrm>
          <a:prstGeom prst="rect">
            <a:avLst/>
          </a:prstGeom>
          <a:noFill/>
          <a:ln/>
        </p:spPr>
        <p:txBody>
          <a:bodyPr wrap="square" lIns="0" tIns="0" rIns="0" bIns="0" rtlCol="0" anchor="ctr"/>
          <a:lstStyle/>
          <a:p>
            <a:pPr indent="0" marL="0">
              <a:buNone/>
            </a:pPr>
            <a:r>
              <a:rPr lang="en-US" sz="2200" b="1" dirty="0">
                <a:solidFill>
                  <a:schemeClr val="accent2"/>
                </a:solidFill>
              </a:rPr>
              <a:t>Hybrid</a:t>
            </a:r>
            <a:endParaRPr lang="en-US" sz="2200" dirty="0"/>
          </a:p>
        </p:txBody>
      </p:sp>
      <p:sp>
        <p:nvSpPr>
          <p:cNvPr id="18" name="Text 16"/>
          <p:cNvSpPr txBox="1"/>
          <p:nvPr/>
        </p:nvSpPr>
        <p:spPr>
          <a:xfrm>
            <a:off x="8447837" y="2103120"/>
            <a:ext cx="3058058" cy="3200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data_hybrid/</a:t>
            </a:r>
            <a:endParaRPr lang="en-US" sz="1300" dirty="0"/>
          </a:p>
        </p:txBody>
      </p:sp>
      <p:sp>
        <p:nvSpPr>
          <p:cNvPr id="19" name="Text 17"/>
          <p:cNvSpPr txBox="1"/>
          <p:nvPr/>
        </p:nvSpPr>
        <p:spPr>
          <a:xfrm>
            <a:off x="8402117" y="2514600"/>
            <a:ext cx="3149498" cy="2468880"/>
          </a:xfrm>
          <a:prstGeom prst="rect">
            <a:avLst/>
          </a:prstGeom>
          <a:noFill/>
          <a:ln/>
        </p:spPr>
        <p:txBody>
          <a:bodyPr wrap="square" lIns="25400" tIns="50800" rIns="50800" bIns="25400" rtlCol="0" anchor="t"/>
          <a:lstStyle/>
          <a:p>
            <a:pPr marL="342900" indent="-342900">
              <a:spcAft>
                <a:spcPts val="600"/>
              </a:spcAft>
              <a:buSzPct val="100000"/>
              <a:buChar char="•"/>
            </a:pPr>
            <a:r>
              <a:rPr lang="en-US" sz="1400" dirty="0">
                <a:solidFill>
                  <a:schemeClr val="tx1"/>
                </a:solidFill>
              </a:rPr>
              <a:t>Real rainfall and events, plus synthetic water level, traffic, reports and incidents simulated from the real rain</a:t>
            </a:r>
            <a:endParaRPr lang="en-US" sz="1400" dirty="0"/>
          </a:p>
          <a:p>
            <a:pPr marL="342900" indent="-342900">
              <a:spcAft>
                <a:spcPts val="600"/>
              </a:spcAft>
              <a:buSzPct val="100000"/>
              <a:buChar char="•"/>
            </a:pPr>
            <a:r>
              <a:rPr lang="en-US" sz="1400" dirty="0">
                <a:solidFill>
                  <a:schemeClr val="tx1"/>
                </a:solidFill>
              </a:rPr>
              <a:t>Every zone scored; peak 73.5 (High) on 4 Dec 2023</a:t>
            </a:r>
            <a:endParaRPr lang="en-US" sz="1400" dirty="0"/>
          </a:p>
          <a:p>
            <a:pPr marL="342900" indent="-342900">
              <a:spcAft>
                <a:spcPts val="600"/>
              </a:spcAft>
              <a:buSzPct val="100000"/>
              <a:buChar char="•"/>
            </a:pPr>
            <a:r>
              <a:rPr lang="en-US" sz="1400" dirty="0">
                <a:solidFill>
                  <a:schemeClr val="tx1"/>
                </a:solidFill>
              </a:rPr>
              <a:t>Batch only</a:t>
            </a:r>
            <a:endParaRPr lang="en-US" sz="1400" dirty="0"/>
          </a:p>
        </p:txBody>
      </p:sp>
      <p:sp>
        <p:nvSpPr>
          <p:cNvPr id="20" name="Text 18"/>
          <p:cNvSpPr txBox="1"/>
          <p:nvPr/>
        </p:nvSpPr>
        <p:spPr>
          <a:xfrm>
            <a:off x="8447837" y="5120640"/>
            <a:ext cx="3058058" cy="365760"/>
          </a:xfrm>
          <a:prstGeom prst="rect">
            <a:avLst/>
          </a:prstGeom>
          <a:noFill/>
          <a:ln/>
        </p:spPr>
        <p:txBody>
          <a:bodyPr wrap="square" lIns="0" tIns="0" rIns="0" bIns="0" rtlCol="0" anchor="ctr"/>
          <a:lstStyle/>
          <a:p>
            <a:pPr indent="0" marL="0">
              <a:buNone/>
            </a:pPr>
            <a:r>
              <a:rPr lang="en-US" sz="1300" b="1" dirty="0">
                <a:solidFill>
                  <a:schemeClr val="tx2"/>
                </a:solidFill>
              </a:rPr>
              <a:t>API :8002 · dashboard :5175</a:t>
            </a:r>
            <a:endParaRPr lang="en-US" sz="1300" dirty="0"/>
          </a:p>
        </p:txBody>
      </p:sp>
      <p:sp>
        <p:nvSpPr>
          <p:cNvPr id="21" name="Text 19"/>
          <p:cNvSpPr txBox="1"/>
          <p:nvPr/>
        </p:nvSpPr>
        <p:spPr>
          <a:xfrm>
            <a:off x="457200" y="5788152"/>
            <a:ext cx="11277295" cy="457200"/>
          </a:xfrm>
          <a:prstGeom prst="rect">
            <a:avLst/>
          </a:prstGeom>
          <a:noFill/>
          <a:ln/>
        </p:spPr>
        <p:txBody>
          <a:bodyPr wrap="square" lIns="0" tIns="0" rIns="0" bIns="0" rtlCol="0" anchor="ctr"/>
          <a:lstStyle/>
          <a:p>
            <a:pPr indent="0" marL="0">
              <a:buNone/>
            </a:pPr>
            <a:r>
              <a:rPr lang="en-US" sz="1300" i="1" dirty="0">
                <a:solidFill>
                  <a:schemeClr val="tx2"/>
                </a:solidFill>
              </a:rPr>
              <a:t>Every synthetic record carries synthetic: true and its data_source; the dashboard banner names the mode. Real and synthetic data are never mixed silently.</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lIns="0" tIns="0" rIns="0" bIns="0" rtlCol="0" anchor="ctr"/>
          <a:lstStyle/>
          <a:p>
            <a:pPr algn="l" indent="0" marL="0">
              <a:buNone/>
            </a:pPr>
            <a:r>
              <a:rPr lang="en-US" sz="3200" b="1" dirty="0">
                <a:solidFill>
                  <a:schemeClr val="tx2"/>
                </a:solidFill>
              </a:rPr>
              <a:t>Verified results and honest limits</a:t>
            </a:r>
            <a:endParaRPr lang="en-US" sz="3200" dirty="0"/>
          </a:p>
        </p:txBody>
      </p:sp>
      <p:sp>
        <p:nvSpPr>
          <p:cNvPr id="3" name="stat 138 / 138"/>
          <p:cNvSpPr/>
          <p:nvPr/>
        </p:nvSpPr>
        <p:spPr>
          <a:xfrm>
            <a:off x="457200" y="1234440"/>
            <a:ext cx="2072579" cy="1828800"/>
          </a:xfrm>
          <a:prstGeom prst="roundRect">
            <a:avLst>
              <a:gd name="adj" fmla="val 5000"/>
            </a:avLst>
          </a:prstGeom>
          <a:solidFill>
            <a:schemeClr val="accent3">
              <a:alpha val="10000"/>
            </a:schemeClr>
          </a:solidFill>
          <a:ln w="12700">
            <a:solidFill>
              <a:schemeClr val="accent3"/>
            </a:solidFill>
            <a:prstDash val="solid"/>
          </a:ln>
        </p:spPr>
      </p:sp>
      <p:sp>
        <p:nvSpPr>
          <p:cNvPr id="4" name="Text 2"/>
          <p:cNvSpPr txBox="1"/>
          <p:nvPr/>
        </p:nvSpPr>
        <p:spPr>
          <a:xfrm>
            <a:off x="594360" y="1344168"/>
            <a:ext cx="1798259" cy="914400"/>
          </a:xfrm>
          <a:prstGeom prst="rect">
            <a:avLst/>
          </a:prstGeom>
          <a:noFill/>
          <a:ln/>
        </p:spPr>
        <p:txBody>
          <a:bodyPr wrap="square" lIns="0" tIns="0" rIns="0" bIns="0" rtlCol="0" anchor="b"/>
          <a:lstStyle/>
          <a:p>
            <a:pPr algn="l" indent="0" marL="0">
              <a:buNone/>
            </a:pPr>
            <a:r>
              <a:rPr lang="en-US" sz="2700" b="1" dirty="0">
                <a:solidFill>
                  <a:schemeClr val="accent3"/>
                </a:solidFill>
              </a:rPr>
              <a:t>138 / 138</a:t>
            </a:r>
            <a:endParaRPr lang="en-US" sz="2700" dirty="0"/>
          </a:p>
        </p:txBody>
      </p:sp>
      <p:sp>
        <p:nvSpPr>
          <p:cNvPr id="5" name="Text 3"/>
          <p:cNvSpPr txBox="1"/>
          <p:nvPr/>
        </p:nvSpPr>
        <p:spPr>
          <a:xfrm>
            <a:off x="594360" y="2276856"/>
            <a:ext cx="1798259" cy="676656"/>
          </a:xfrm>
          <a:prstGeom prst="rect">
            <a:avLst/>
          </a:prstGeom>
          <a:noFill/>
          <a:ln/>
        </p:spPr>
        <p:txBody>
          <a:bodyPr wrap="square" lIns="0" tIns="0" rIns="0" bIns="0" rtlCol="0" anchor="t"/>
          <a:lstStyle/>
          <a:p>
            <a:pPr algn="l" indent="0" marL="0">
              <a:buNone/>
            </a:pPr>
            <a:r>
              <a:rPr lang="en-US" sz="1200" dirty="0">
                <a:solidFill>
                  <a:schemeClr val="tx1"/>
                </a:solidFill>
              </a:rPr>
              <a:t>automated tests passed (unit, Spark, integration)</a:t>
            </a:r>
            <a:endParaRPr lang="en-US" sz="1200" dirty="0"/>
          </a:p>
        </p:txBody>
      </p:sp>
      <p:sp>
        <p:nvSpPr>
          <p:cNvPr id="6" name="stat 14 / 14"/>
          <p:cNvSpPr/>
          <p:nvPr/>
        </p:nvSpPr>
        <p:spPr>
          <a:xfrm>
            <a:off x="2758379" y="1234440"/>
            <a:ext cx="2072579" cy="1828800"/>
          </a:xfrm>
          <a:prstGeom prst="roundRect">
            <a:avLst>
              <a:gd name="adj" fmla="val 5000"/>
            </a:avLst>
          </a:prstGeom>
          <a:solidFill>
            <a:schemeClr val="accent2">
              <a:alpha val="10000"/>
            </a:schemeClr>
          </a:solidFill>
          <a:ln w="12700">
            <a:solidFill>
              <a:schemeClr val="accent2"/>
            </a:solidFill>
            <a:prstDash val="solid"/>
          </a:ln>
        </p:spPr>
      </p:sp>
      <p:sp>
        <p:nvSpPr>
          <p:cNvPr id="7" name="Text 5"/>
          <p:cNvSpPr txBox="1"/>
          <p:nvPr/>
        </p:nvSpPr>
        <p:spPr>
          <a:xfrm>
            <a:off x="2895539" y="1344168"/>
            <a:ext cx="1798259" cy="914400"/>
          </a:xfrm>
          <a:prstGeom prst="rect">
            <a:avLst/>
          </a:prstGeom>
          <a:noFill/>
          <a:ln/>
        </p:spPr>
        <p:txBody>
          <a:bodyPr wrap="square" lIns="0" tIns="0" rIns="0" bIns="0" rtlCol="0" anchor="b"/>
          <a:lstStyle/>
          <a:p>
            <a:pPr algn="l" indent="0" marL="0">
              <a:buNone/>
            </a:pPr>
            <a:r>
              <a:rPr lang="en-US" sz="3400" b="1" dirty="0">
                <a:solidFill>
                  <a:schemeClr val="accent2"/>
                </a:solidFill>
              </a:rPr>
              <a:t>14 / 14</a:t>
            </a:r>
            <a:endParaRPr lang="en-US" sz="3400" dirty="0"/>
          </a:p>
        </p:txBody>
      </p:sp>
      <p:sp>
        <p:nvSpPr>
          <p:cNvPr id="8" name="Text 6"/>
          <p:cNvSpPr txBox="1"/>
          <p:nvPr/>
        </p:nvSpPr>
        <p:spPr>
          <a:xfrm>
            <a:off x="2895539" y="2276856"/>
            <a:ext cx="1798259" cy="676656"/>
          </a:xfrm>
          <a:prstGeom prst="rect">
            <a:avLst/>
          </a:prstGeom>
          <a:noFill/>
          <a:ln/>
        </p:spPr>
        <p:txBody>
          <a:bodyPr wrap="square" lIns="0" tIns="0" rIns="0" bIns="0" rtlCol="0" anchor="t"/>
          <a:lstStyle/>
          <a:p>
            <a:pPr algn="l" indent="0" marL="0">
              <a:buNone/>
            </a:pPr>
            <a:r>
              <a:rPr lang="en-US" sz="1200" dirty="0">
                <a:solidFill>
                  <a:schemeClr val="tx1"/>
                </a:solidFill>
              </a:rPr>
              <a:t>end-to-end check steps PASS</a:t>
            </a:r>
            <a:endParaRPr lang="en-US" sz="1200" dirty="0"/>
          </a:p>
        </p:txBody>
      </p:sp>
      <p:sp>
        <p:nvSpPr>
          <p:cNvPr id="9" name="stat 7 / 7"/>
          <p:cNvSpPr/>
          <p:nvPr/>
        </p:nvSpPr>
        <p:spPr>
          <a:xfrm>
            <a:off x="5059558" y="1234440"/>
            <a:ext cx="2072579" cy="1828800"/>
          </a:xfrm>
          <a:prstGeom prst="roundRect">
            <a:avLst>
              <a:gd name="adj" fmla="val 5000"/>
            </a:avLst>
          </a:prstGeom>
          <a:solidFill>
            <a:schemeClr val="accent6">
              <a:alpha val="10000"/>
            </a:schemeClr>
          </a:solidFill>
          <a:ln w="12700">
            <a:solidFill>
              <a:schemeClr val="accent6"/>
            </a:solidFill>
            <a:prstDash val="solid"/>
          </a:ln>
        </p:spPr>
      </p:sp>
      <p:sp>
        <p:nvSpPr>
          <p:cNvPr id="10" name="Text 8"/>
          <p:cNvSpPr txBox="1"/>
          <p:nvPr/>
        </p:nvSpPr>
        <p:spPr>
          <a:xfrm>
            <a:off x="5196718" y="1344168"/>
            <a:ext cx="1798259" cy="914400"/>
          </a:xfrm>
          <a:prstGeom prst="rect">
            <a:avLst/>
          </a:prstGeom>
          <a:noFill/>
          <a:ln/>
        </p:spPr>
        <p:txBody>
          <a:bodyPr wrap="square" lIns="0" tIns="0" rIns="0" bIns="0" rtlCol="0" anchor="b"/>
          <a:lstStyle/>
          <a:p>
            <a:pPr algn="l" indent="0" marL="0">
              <a:buNone/>
            </a:pPr>
            <a:r>
              <a:rPr lang="en-US" sz="3400" b="1" dirty="0">
                <a:solidFill>
                  <a:schemeClr val="accent6"/>
                </a:solidFill>
              </a:rPr>
              <a:t>7 / 7</a:t>
            </a:r>
            <a:endParaRPr lang="en-US" sz="3400" dirty="0"/>
          </a:p>
        </p:txBody>
      </p:sp>
      <p:sp>
        <p:nvSpPr>
          <p:cNvPr id="11" name="Text 9"/>
          <p:cNvSpPr txBox="1"/>
          <p:nvPr/>
        </p:nvSpPr>
        <p:spPr>
          <a:xfrm>
            <a:off x="5196718" y="2276856"/>
            <a:ext cx="1798259" cy="676656"/>
          </a:xfrm>
          <a:prstGeom prst="rect">
            <a:avLst/>
          </a:prstGeom>
          <a:noFill/>
          <a:ln/>
        </p:spPr>
        <p:txBody>
          <a:bodyPr wrap="square" lIns="0" tIns="0" rIns="0" bIns="0" rtlCol="0" anchor="t"/>
          <a:lstStyle/>
          <a:p>
            <a:pPr algn="l" indent="0" marL="0">
              <a:buNone/>
            </a:pPr>
            <a:r>
              <a:rPr lang="en-US" sz="1200" dirty="0">
                <a:solidFill>
                  <a:schemeClr val="tx1"/>
                </a:solidFill>
              </a:rPr>
              <a:t>dashboard tabs render, in all three modes</a:t>
            </a:r>
            <a:endParaRPr lang="en-US" sz="1200" dirty="0"/>
          </a:p>
        </p:txBody>
      </p:sp>
      <p:sp>
        <p:nvSpPr>
          <p:cNvPr id="12" name="stat 8 / 8"/>
          <p:cNvSpPr/>
          <p:nvPr/>
        </p:nvSpPr>
        <p:spPr>
          <a:xfrm>
            <a:off x="7360737" y="1234440"/>
            <a:ext cx="2072579" cy="1828800"/>
          </a:xfrm>
          <a:prstGeom prst="roundRect">
            <a:avLst>
              <a:gd name="adj" fmla="val 5000"/>
            </a:avLst>
          </a:prstGeom>
          <a:solidFill>
            <a:schemeClr val="accent4">
              <a:alpha val="10000"/>
            </a:schemeClr>
          </a:solidFill>
          <a:ln w="12700">
            <a:solidFill>
              <a:schemeClr val="accent4"/>
            </a:solidFill>
            <a:prstDash val="solid"/>
          </a:ln>
        </p:spPr>
      </p:sp>
      <p:sp>
        <p:nvSpPr>
          <p:cNvPr id="13" name="Text 11"/>
          <p:cNvSpPr txBox="1"/>
          <p:nvPr/>
        </p:nvSpPr>
        <p:spPr>
          <a:xfrm>
            <a:off x="7497897" y="1344168"/>
            <a:ext cx="1798259" cy="914400"/>
          </a:xfrm>
          <a:prstGeom prst="rect">
            <a:avLst/>
          </a:prstGeom>
          <a:noFill/>
          <a:ln/>
        </p:spPr>
        <p:txBody>
          <a:bodyPr wrap="square" lIns="0" tIns="0" rIns="0" bIns="0" rtlCol="0" anchor="b"/>
          <a:lstStyle/>
          <a:p>
            <a:pPr algn="l" indent="0" marL="0">
              <a:buNone/>
            </a:pPr>
            <a:r>
              <a:rPr lang="en-US" sz="3400" b="1" dirty="0">
                <a:solidFill>
                  <a:schemeClr val="accent4"/>
                </a:solidFill>
              </a:rPr>
              <a:t>8 / 8</a:t>
            </a:r>
            <a:endParaRPr lang="en-US" sz="3400" dirty="0"/>
          </a:p>
        </p:txBody>
      </p:sp>
      <p:sp>
        <p:nvSpPr>
          <p:cNvPr id="14" name="Text 12"/>
          <p:cNvSpPr txBox="1"/>
          <p:nvPr/>
        </p:nvSpPr>
        <p:spPr>
          <a:xfrm>
            <a:off x="7497897" y="2276856"/>
            <a:ext cx="1798259" cy="676656"/>
          </a:xfrm>
          <a:prstGeom prst="rect">
            <a:avLst/>
          </a:prstGeom>
          <a:noFill/>
          <a:ln/>
        </p:spPr>
        <p:txBody>
          <a:bodyPr wrap="square" lIns="0" tIns="0" rIns="0" bIns="0" rtlCol="0" anchor="t"/>
          <a:lstStyle/>
          <a:p>
            <a:pPr algn="l" indent="0" marL="0">
              <a:buNone/>
            </a:pPr>
            <a:r>
              <a:rPr lang="en-US" sz="1200" dirty="0">
                <a:solidFill>
                  <a:schemeClr val="tx1"/>
                </a:solidFill>
              </a:rPr>
              <a:t>injected defect kinds detected</a:t>
            </a:r>
            <a:endParaRPr lang="en-US" sz="1200" dirty="0"/>
          </a:p>
        </p:txBody>
      </p:sp>
      <p:sp>
        <p:nvSpPr>
          <p:cNvPr id="15" name="stat 0.677"/>
          <p:cNvSpPr/>
          <p:nvPr/>
        </p:nvSpPr>
        <p:spPr>
          <a:xfrm>
            <a:off x="9661916" y="1234440"/>
            <a:ext cx="2072579" cy="1828800"/>
          </a:xfrm>
          <a:prstGeom prst="roundRect">
            <a:avLst>
              <a:gd name="adj" fmla="val 5000"/>
            </a:avLst>
          </a:prstGeom>
          <a:solidFill>
            <a:schemeClr val="accent5">
              <a:alpha val="10000"/>
            </a:schemeClr>
          </a:solidFill>
          <a:ln w="12700">
            <a:solidFill>
              <a:schemeClr val="accent5"/>
            </a:solidFill>
            <a:prstDash val="solid"/>
          </a:ln>
        </p:spPr>
      </p:sp>
      <p:sp>
        <p:nvSpPr>
          <p:cNvPr id="16" name="Text 14"/>
          <p:cNvSpPr txBox="1"/>
          <p:nvPr/>
        </p:nvSpPr>
        <p:spPr>
          <a:xfrm>
            <a:off x="9799076" y="1344168"/>
            <a:ext cx="1798259" cy="914400"/>
          </a:xfrm>
          <a:prstGeom prst="rect">
            <a:avLst/>
          </a:prstGeom>
          <a:noFill/>
          <a:ln/>
        </p:spPr>
        <p:txBody>
          <a:bodyPr wrap="square" lIns="0" tIns="0" rIns="0" bIns="0" rtlCol="0" anchor="b"/>
          <a:lstStyle/>
          <a:p>
            <a:pPr algn="l" indent="0" marL="0">
              <a:buNone/>
            </a:pPr>
            <a:r>
              <a:rPr lang="en-US" sz="3400" b="1" dirty="0">
                <a:solidFill>
                  <a:schemeClr val="accent5"/>
                </a:solidFill>
              </a:rPr>
              <a:t>0.677</a:t>
            </a:r>
            <a:endParaRPr lang="en-US" sz="3400" dirty="0"/>
          </a:p>
        </p:txBody>
      </p:sp>
      <p:sp>
        <p:nvSpPr>
          <p:cNvPr id="17" name="Text 15"/>
          <p:cNvSpPr txBox="1"/>
          <p:nvPr/>
        </p:nvSpPr>
        <p:spPr>
          <a:xfrm>
            <a:off x="9799076" y="2276856"/>
            <a:ext cx="1798259" cy="676656"/>
          </a:xfrm>
          <a:prstGeom prst="rect">
            <a:avLst/>
          </a:prstGeom>
          <a:noFill/>
          <a:ln/>
        </p:spPr>
        <p:txBody>
          <a:bodyPr wrap="square" lIns="0" tIns="0" rIns="0" bIns="0" rtlCol="0" anchor="t"/>
          <a:lstStyle/>
          <a:p>
            <a:pPr algn="l" indent="0" marL="0">
              <a:buNone/>
            </a:pPr>
            <a:r>
              <a:rPr lang="en-US" sz="1200" dirty="0">
                <a:solidFill>
                  <a:schemeClr val="tx1"/>
                </a:solidFill>
              </a:rPr>
              <a:t>ML accuracy vs 0.323 baseline (synthetic labels)</a:t>
            </a:r>
            <a:endParaRPr lang="en-US" sz="1200" dirty="0"/>
          </a:p>
        </p:txBody>
      </p:sp>
      <p:sp>
        <p:nvSpPr>
          <p:cNvPr id="18" name="Text 16"/>
          <p:cNvSpPr txBox="1"/>
          <p:nvPr/>
        </p:nvSpPr>
        <p:spPr>
          <a:xfrm>
            <a:off x="457200" y="3429000"/>
            <a:ext cx="5455768" cy="411480"/>
          </a:xfrm>
          <a:prstGeom prst="rect">
            <a:avLst/>
          </a:prstGeom>
          <a:noFill/>
          <a:ln/>
        </p:spPr>
        <p:txBody>
          <a:bodyPr wrap="square" lIns="0" tIns="0" rIns="0" bIns="0" rtlCol="0" anchor="ctr"/>
          <a:lstStyle/>
          <a:p>
            <a:pPr indent="0" marL="0">
              <a:buNone/>
            </a:pPr>
            <a:r>
              <a:rPr lang="en-US" sz="2000" b="1" dirty="0">
                <a:solidFill>
                  <a:schemeClr val="accent4"/>
                </a:solidFill>
              </a:rPr>
              <a:t>Demonstrated</a:t>
            </a:r>
            <a:endParaRPr lang="en-US" sz="2000" dirty="0"/>
          </a:p>
        </p:txBody>
      </p:sp>
      <p:sp>
        <p:nvSpPr>
          <p:cNvPr id="19" name="Text 17"/>
          <p:cNvSpPr txBox="1"/>
          <p:nvPr/>
        </p:nvSpPr>
        <p:spPr>
          <a:xfrm>
            <a:off x="457200" y="3931920"/>
            <a:ext cx="5455768" cy="2331720"/>
          </a:xfrm>
          <a:prstGeom prst="rect">
            <a:avLst/>
          </a:prstGeom>
          <a:noFill/>
          <a:ln/>
        </p:spPr>
        <p:txBody>
          <a:bodyPr wrap="square" lIns="25400" tIns="50800" rIns="50800" bIns="25400" rtlCol="0" anchor="t"/>
          <a:lstStyle/>
          <a:p>
            <a:pPr marL="342900" indent="-342900">
              <a:spcAft>
                <a:spcPts val="600"/>
              </a:spcAft>
              <a:buSzPct val="100000"/>
              <a:buChar char="•"/>
            </a:pPr>
            <a:r>
              <a:rPr lang="en-US" sz="1600" dirty="0">
                <a:solidFill>
                  <a:schemeClr val="tx1"/>
                </a:solidFill>
              </a:rPr>
              <a:t>Kafka → Structured Streaming + batch → HBase + Parquet → FastAPI → dashboard, running together</a:t>
            </a:r>
            <a:endParaRPr lang="en-US" sz="1600" dirty="0"/>
          </a:p>
          <a:p>
            <a:pPr marL="342900" indent="-342900">
              <a:spcAft>
                <a:spcPts val="600"/>
              </a:spcAft>
              <a:buSzPct val="100000"/>
              <a:buChar char="•"/>
            </a:pPr>
            <a:r>
              <a:rPr lang="en-US" sz="1600" dirty="0">
                <a:solidFill>
                  <a:schemeClr val="tx1"/>
                </a:solidFill>
              </a:rPr>
              <a:t>296,817 records reconciled: records = valid + rejected, injected = detected</a:t>
            </a:r>
            <a:endParaRPr lang="en-US" sz="1600" dirty="0"/>
          </a:p>
          <a:p>
            <a:pPr marL="342900" indent="-342900">
              <a:spcAft>
                <a:spcPts val="600"/>
              </a:spcAft>
              <a:buSzPct val="100000"/>
              <a:buChar char="•"/>
            </a:pPr>
            <a:r>
              <a:rPr lang="en-US" sz="1600" dirty="0">
                <a:solidFill>
                  <a:schemeClr val="tx1"/>
                </a:solidFill>
              </a:rPr>
              <a:t>Recovery from a 75 s HBase outage; graceful stop in 37 s</a:t>
            </a:r>
            <a:endParaRPr lang="en-US" sz="1600" dirty="0"/>
          </a:p>
          <a:p>
            <a:pPr marL="342900" indent="-342900">
              <a:spcAft>
                <a:spcPts val="600"/>
              </a:spcAft>
              <a:buSzPct val="100000"/>
              <a:buChar char="•"/>
            </a:pPr>
            <a:r>
              <a:rPr lang="en-US" sz="1600" dirty="0">
                <a:solidFill>
                  <a:schemeClr val="tx1"/>
                </a:solidFill>
              </a:rPr>
              <a:t>Real rainfall validated: ERA5 vs IMD daily r = 0.78</a:t>
            </a:r>
            <a:endParaRPr lang="en-US" sz="1600" dirty="0"/>
          </a:p>
        </p:txBody>
      </p:sp>
      <p:sp>
        <p:nvSpPr>
          <p:cNvPr id="20" name="Text 18"/>
          <p:cNvSpPr txBox="1"/>
          <p:nvPr/>
        </p:nvSpPr>
        <p:spPr>
          <a:xfrm>
            <a:off x="6278728" y="3429000"/>
            <a:ext cx="5455768" cy="411480"/>
          </a:xfrm>
          <a:prstGeom prst="rect">
            <a:avLst/>
          </a:prstGeom>
          <a:noFill/>
          <a:ln/>
        </p:spPr>
        <p:txBody>
          <a:bodyPr wrap="square" lIns="0" tIns="0" rIns="0" bIns="0" rtlCol="0" anchor="ctr"/>
          <a:lstStyle/>
          <a:p>
            <a:pPr indent="0" marL="0">
              <a:buNone/>
            </a:pPr>
            <a:r>
              <a:rPr lang="en-US" sz="2000" b="1" dirty="0">
                <a:solidFill>
                  <a:schemeClr val="accent3"/>
                </a:solidFill>
              </a:rPr>
              <a:t>Limits</a:t>
            </a:r>
            <a:endParaRPr lang="en-US" sz="2000" dirty="0"/>
          </a:p>
        </p:txBody>
      </p:sp>
      <p:sp>
        <p:nvSpPr>
          <p:cNvPr id="21" name="Text 19"/>
          <p:cNvSpPr txBox="1"/>
          <p:nvPr/>
        </p:nvSpPr>
        <p:spPr>
          <a:xfrm>
            <a:off x="6278728" y="3931920"/>
            <a:ext cx="5455768" cy="2331720"/>
          </a:xfrm>
          <a:prstGeom prst="rect">
            <a:avLst/>
          </a:prstGeom>
          <a:noFill/>
          <a:ln/>
        </p:spPr>
        <p:txBody>
          <a:bodyPr wrap="square" lIns="25400" tIns="50800" rIns="50800" bIns="25400" rtlCol="0" anchor="t"/>
          <a:lstStyle/>
          <a:p>
            <a:pPr marL="342900" indent="-342900">
              <a:spcAft>
                <a:spcPts val="600"/>
              </a:spcAft>
              <a:buSzPct val="100000"/>
              <a:buChar char="•"/>
            </a:pPr>
            <a:r>
              <a:rPr lang="en-US" sz="1600" dirty="0">
                <a:solidFill>
                  <a:schemeClr val="tx1"/>
                </a:solidFill>
              </a:rPr>
              <a:t>The live stream is synthetic; real data is historical batch only</a:t>
            </a:r>
            <a:endParaRPr lang="en-US" sz="1600" dirty="0"/>
          </a:p>
          <a:p>
            <a:pPr marL="342900" indent="-342900">
              <a:spcAft>
                <a:spcPts val="600"/>
              </a:spcAft>
              <a:buSzPct val="100000"/>
              <a:buChar char="•"/>
            </a:pPr>
            <a:r>
              <a:rPr lang="en-US" sz="1600" dirty="0">
                <a:solidFill>
                  <a:schemeClr val="tx1"/>
                </a:solidFill>
              </a:rPr>
              <a:t>Single machine: one Kafka broker, standalone HBase, Spark local mode</a:t>
            </a:r>
            <a:endParaRPr lang="en-US" sz="1600" dirty="0"/>
          </a:p>
          <a:p>
            <a:pPr marL="342900" indent="-342900">
              <a:spcAft>
                <a:spcPts val="600"/>
              </a:spcAft>
              <a:buSzPct val="100000"/>
              <a:buChar char="•"/>
            </a:pPr>
            <a:r>
              <a:rPr lang="en-US" sz="1600" dirty="0">
                <a:solidFill>
                  <a:schemeClr val="tx1"/>
                </a:solidFill>
              </a:rPr>
              <a:t>Risk weights are demonstration values; ML labels are synthetic</a:t>
            </a:r>
            <a:endParaRPr lang="en-US" sz="1600" dirty="0"/>
          </a:p>
          <a:p>
            <a:pPr marL="342900" indent="-342900">
              <a:spcAft>
                <a:spcPts val="600"/>
              </a:spcAft>
              <a:buSzPct val="100000"/>
              <a:buChar char="•"/>
            </a:pPr>
            <a:r>
              <a:rPr lang="en-US" sz="1600" dirty="0">
                <a:solidFill>
                  <a:schemeClr val="tx1"/>
                </a:solidFill>
              </a:rPr>
              <a:t>At-least-once delivery with idempotent sinks, not exactly-once</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EGIS Flood Intelligence">
  <a:themeElements>
    <a:clrScheme name="AEGIS Flood Intelligence">
      <a:dk1>
        <a:srgbClr val="14213D"/>
      </a:dk1>
      <a:lt1>
        <a:srgbClr val="FFFFFF"/>
      </a:lt1>
      <a:dk2>
        <a:srgbClr val="1F3B63"/>
      </a:dk2>
      <a:lt2>
        <a:srgbClr val="EEF2F7"/>
      </a:lt2>
      <a:accent1>
        <a:srgbClr val="2F5D9B"/>
      </a:accent1>
      <a:accent2>
        <a:srgbClr val="C27C1E"/>
      </a:accent2>
      <a:accent3>
        <a:srgbClr val="B8452A"/>
      </a:accent3>
      <a:accent4>
        <a:srgbClr val="2F7A45"/>
      </a:accent4>
      <a:accent5>
        <a:srgbClr val="5B3F99"/>
      </a:accent5>
      <a:accent6>
        <a:srgbClr val="1E7F8C"/>
      </a:accent6>
      <a:hlink>
        <a:srgbClr val="1E7F8C"/>
      </a:hlink>
      <a:folHlink>
        <a:srgbClr val="5B3F99"/>
      </a:folHlink>
    </a:clrScheme>
    <a:fontScheme name="AEGIS Flood Intellig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 architecture</dc:title>
  <dc:subject>Real-time disaster intelligence and risk analytics</dc:subject>
  <dc:creator>PptxGenJS</dc:creator>
  <cp:lastModifiedBy>PptxGenJS</cp:lastModifiedBy>
  <cp:revision>1</cp:revision>
  <dcterms:created xsi:type="dcterms:W3CDTF">2026-10-22T18:11:45Z</dcterms:created>
  <dcterms:modified xsi:type="dcterms:W3CDTF">2026-10-22T18:11:45Z</dcterms:modified>
</cp:coreProperties>
</file>